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a:spAutoFit/>
          </a:bodyPr>
          <a:lstStyle/>
          <a:p>
            <a:pPr algn="l">
              <a:spcAft>
                <a:spcPts val="400"/>
              </a:spcAft>
            </a:pPr>
            <a:r>
              <a:rPr sz="1400" b="1">
                <a:solidFill>
                  <a:srgbClr val="D97757"/>
                </a:solidFill>
                <a:latin typeface="Calibri"/>
              </a:rPr>
              <a:t>NON-WSQ COURSE  •  C817</a:t>
            </a:r>
          </a:p>
        </p:txBody>
      </p:sp>
      <p:sp>
        <p:nvSpPr>
          <p:cNvPr id="6" name="TextBox 5"/>
          <p:cNvSpPr txBox="1"/>
          <p:nvPr/>
        </p:nvSpPr>
        <p:spPr>
          <a:xfrm>
            <a:off x="822960" y="4343400"/>
            <a:ext cx="7772400" cy="365760"/>
          </a:xfrm>
          <a:prstGeom prst="rect">
            <a:avLst/>
          </a:prstGeom>
          <a:noFill/>
        </p:spPr>
        <p:txBody>
          <a:bodyPr wrap="square" anchor="t">
            <a:spAutoFit/>
          </a:bodyPr>
          <a:lstStyle/>
          <a:p>
            <a:pPr algn="l">
              <a:spcAft>
                <a:spcPts val="400"/>
              </a:spcAft>
            </a:pPr>
            <a:r>
              <a:rPr sz="1300" b="0">
                <a:solidFill>
                  <a:srgbClr val="B9B4A9"/>
                </a:solidFill>
                <a:latin typeface="Calibri"/>
              </a:rPr>
              <a:t>Version v2.0  ·  19 October 2026</a:t>
            </a:r>
          </a:p>
        </p:txBody>
      </p:sp>
      <p:sp>
        <p:nvSpPr>
          <p:cNvPr id="7" name="TextBox 6"/>
          <p:cNvSpPr txBox="1"/>
          <p:nvPr/>
        </p:nvSpPr>
        <p:spPr>
          <a:xfrm>
            <a:off x="777240" y="1828800"/>
            <a:ext cx="10241280" cy="2377440"/>
          </a:xfrm>
          <a:prstGeom prst="rect">
            <a:avLst/>
          </a:prstGeom>
          <a:noFill/>
        </p:spPr>
        <p:txBody>
          <a:bodyPr wrap="square" anchor="t">
            <a:spAutoFit/>
          </a:bodyPr>
          <a:lstStyle/>
          <a:p>
            <a:pPr algn="l">
              <a:spcAft>
                <a:spcPts val="400"/>
              </a:spcAft>
            </a:pPr>
            <a:r>
              <a:rPr sz="5200" b="1">
                <a:solidFill>
                  <a:srgbClr val="FFFFFF"/>
                </a:solidFill>
                <a:latin typeface="Cambria"/>
              </a:rPr>
              <a:t>Gemini for Google Sheet</a:t>
            </a:r>
          </a:p>
        </p:txBody>
      </p:sp>
      <p:sp>
        <p:nvSpPr>
          <p:cNvPr id="8" name="TextBox 7"/>
          <p:cNvSpPr txBox="1"/>
          <p:nvPr/>
        </p:nvSpPr>
        <p:spPr>
          <a:xfrm>
            <a:off x="822960" y="5212080"/>
            <a:ext cx="10058400" cy="731520"/>
          </a:xfrm>
          <a:prstGeom prst="rect">
            <a:avLst/>
          </a:prstGeom>
          <a:noFill/>
        </p:spPr>
        <p:txBody>
          <a:bodyPr wrap="square" anchor="t">
            <a:spAutoFit/>
          </a:bodyPr>
          <a:lstStyle/>
          <a:p>
            <a:pPr algn="l">
              <a:spcAft>
                <a:spcPts val="200"/>
              </a:spcAft>
            </a:pPr>
            <a:r>
              <a:rPr sz="1500" b="1">
                <a:solidFill>
                  <a:srgbClr val="FFFFFF"/>
                </a:solidFill>
                <a:latin typeface="Calibri"/>
              </a:rPr>
              <a:t>Tertiary Infotech Academy Pte Ltd</a:t>
            </a:r>
          </a:p>
          <a:p>
            <a:pPr algn="l">
              <a:spcAft>
                <a:spcPts val="200"/>
              </a:spcAft>
            </a:pPr>
            <a:r>
              <a:rPr sz="1300" b="0">
                <a:solidFill>
                  <a:srgbClr val="B9B4A9"/>
                </a:solidFill>
                <a:latin typeface="Calibri"/>
              </a:rPr>
              <a:t>UEN: 201200696W</a:t>
            </a:r>
          </a:p>
        </p:txBody>
      </p:sp>
      <p:sp>
        <p:nvSpPr>
          <p:cNvPr id="9" name="TextBox 8"/>
          <p:cNvSpPr txBox="1"/>
          <p:nvPr/>
        </p:nvSpPr>
        <p:spPr>
          <a:xfrm>
            <a:off x="822960" y="6172200"/>
            <a:ext cx="10515600" cy="320040"/>
          </a:xfrm>
          <a:prstGeom prst="rect">
            <a:avLst/>
          </a:prstGeom>
          <a:noFill/>
        </p:spPr>
        <p:txBody>
          <a:bodyPr wrap="square" anchor="t">
            <a:spAutoFit/>
          </a:bodyPr>
          <a:lstStyle/>
          <a:p>
            <a:pPr algn="l">
              <a:spcAft>
                <a:spcPts val="400"/>
              </a:spcAft>
            </a:pPr>
            <a:r>
              <a:rPr sz="1200" b="0">
                <a:solidFill>
                  <a:srgbClr val="B9B4A9"/>
                </a:solidFill>
                <a:latin typeface="Calibri"/>
              </a:rPr>
              <a:t>www.tertiarycourses.com.sg   |   enquiry@tertiaryinfotech.com   |   +65 6100 0613</a:t>
            </a:r>
          </a:p>
        </p:txBody>
      </p:sp>
      <p:sp>
        <p:nvSpPr>
          <p:cNvPr id="10" name="TextBox 9"/>
          <p:cNvSpPr txBox="1"/>
          <p:nvPr/>
        </p:nvSpPr>
        <p:spPr>
          <a:xfrm>
            <a:off x="7159752" y="6355080"/>
            <a:ext cx="4572000" cy="274320"/>
          </a:xfrm>
          <a:prstGeom prst="rect">
            <a:avLst/>
          </a:prstGeom>
          <a:noFill/>
        </p:spPr>
        <p:txBody>
          <a:bodyPr wrap="square" anchor="t">
            <a:spAutoFit/>
          </a:bodyPr>
          <a:lstStyle/>
          <a:p>
            <a:pPr algn="r">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COURSE ADMINISTRATION</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Welcome &amp; Housekeeping</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Gemini for Google Sheet (C817)  ·  C817</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37360"/>
            <a:ext cx="3291840" cy="3291840"/>
          </a:xfrm>
          <a:prstGeom prst="roundRect">
            <a:avLst>
              <a:gd name="adj" fmla="val 6000"/>
            </a:avLst>
          </a:prstGeom>
          <a:solidFill>
            <a:srgbClr val="21201C"/>
          </a:solidFill>
          <a:ln>
            <a:noFill/>
          </a:ln>
        </p:spPr>
        <p:txBody>
          <a:bodyPr rtlCol="0" anchor="ctr"/>
          <a:lstStyle/>
          <a:p>
            <a:pPr algn="ctr"/>
          </a:p>
        </p:txBody>
      </p:sp>
      <p:sp>
        <p:nvSpPr>
          <p:cNvPr id="6" name="Oval 5"/>
          <p:cNvSpPr/>
          <p:nvPr/>
        </p:nvSpPr>
        <p:spPr>
          <a:xfrm>
            <a:off x="2103120" y="2103120"/>
            <a:ext cx="640080" cy="640080"/>
          </a:xfrm>
          <a:prstGeom prst="ellipse">
            <a:avLst/>
          </a:prstGeom>
          <a:solidFill>
            <a:srgbClr val="D97757"/>
          </a:solidFill>
          <a:ln>
            <a:noFill/>
          </a:ln>
          <a:effectLst/>
        </p:spPr>
        <p:txBody>
          <a:bodyPr rtlCol="0" anchor="ctr"/>
          <a:lstStyle/>
          <a:p>
            <a:pPr algn="ctr"/>
          </a:p>
        </p:txBody>
      </p:sp>
      <p:pic>
        <p:nvPicPr>
          <p:cNvPr id="7" name="Picture 6" descr="person.png"/>
          <p:cNvPicPr>
            <a:picLocks noChangeAspect="1"/>
          </p:cNvPicPr>
          <p:nvPr/>
        </p:nvPicPr>
        <p:blipFill>
          <a:blip r:embed="rId2"/>
          <a:stretch>
            <a:fillRect/>
          </a:stretch>
        </p:blipFill>
        <p:spPr>
          <a:xfrm>
            <a:off x="2256739" y="2256739"/>
            <a:ext cx="332841" cy="332841"/>
          </a:xfrm>
          <a:prstGeom prst="rect">
            <a:avLst/>
          </a:prstGeom>
        </p:spPr>
      </p:pic>
      <p:sp>
        <p:nvSpPr>
          <p:cNvPr id="8" name="TextBox 7"/>
          <p:cNvSpPr txBox="1"/>
          <p:nvPr/>
        </p:nvSpPr>
        <p:spPr>
          <a:xfrm>
            <a:off x="777240" y="2926080"/>
            <a:ext cx="3291840" cy="548640"/>
          </a:xfrm>
          <a:prstGeom prst="rect">
            <a:avLst/>
          </a:prstGeom>
          <a:noFill/>
        </p:spPr>
        <p:txBody>
          <a:bodyPr wrap="square" anchor="t">
            <a:spAutoFit/>
          </a:bodyPr>
          <a:lstStyle/>
          <a:p>
            <a:pPr algn="ctr">
              <a:spcAft>
                <a:spcPts val="400"/>
              </a:spcAft>
            </a:pPr>
            <a:r>
              <a:rPr sz="2200" b="1">
                <a:solidFill>
                  <a:srgbClr val="FFFFFF"/>
                </a:solidFill>
                <a:latin typeface="Cambria"/>
              </a:rPr>
              <a:t>Dr. Alfred Ang</a:t>
            </a:r>
          </a:p>
        </p:txBody>
      </p:sp>
      <p:sp>
        <p:nvSpPr>
          <p:cNvPr id="9" name="TextBox 8"/>
          <p:cNvSpPr txBox="1"/>
          <p:nvPr/>
        </p:nvSpPr>
        <p:spPr>
          <a:xfrm>
            <a:off x="777240" y="3429000"/>
            <a:ext cx="3291840" cy="365760"/>
          </a:xfrm>
          <a:prstGeom prst="rect">
            <a:avLst/>
          </a:prstGeom>
          <a:noFill/>
        </p:spPr>
        <p:txBody>
          <a:bodyPr wrap="square" anchor="t">
            <a:spAutoFit/>
          </a:bodyPr>
          <a:lstStyle/>
          <a:p>
            <a:pPr algn="ctr">
              <a:spcAft>
                <a:spcPts val="400"/>
              </a:spcAft>
            </a:pPr>
            <a:r>
              <a:rPr sz="1300" b="0">
                <a:solidFill>
                  <a:srgbClr val="D97757"/>
                </a:solidFill>
                <a:latin typeface="Calibri"/>
              </a:rPr>
              <a:t>AI Trainer &amp; Engineer</a:t>
            </a:r>
          </a:p>
        </p:txBody>
      </p:sp>
      <p:sp>
        <p:nvSpPr>
          <p:cNvPr id="10" name="Oval 9"/>
          <p:cNvSpPr/>
          <p:nvPr/>
        </p:nvSpPr>
        <p:spPr>
          <a:xfrm>
            <a:off x="4434840" y="1828800"/>
            <a:ext cx="502920" cy="502920"/>
          </a:xfrm>
          <a:prstGeom prst="ellipse">
            <a:avLst/>
          </a:prstGeom>
          <a:solidFill>
            <a:srgbClr val="3A7D7B"/>
          </a:solidFill>
          <a:ln>
            <a:noFill/>
          </a:ln>
          <a:effectLst/>
        </p:spPr>
        <p:txBody>
          <a:bodyPr rtlCol="0" anchor="ctr"/>
          <a:lstStyle/>
          <a:p>
            <a:pPr algn="ctr"/>
          </a:p>
        </p:txBody>
      </p:sp>
      <p:pic>
        <p:nvPicPr>
          <p:cNvPr id="11" name="Picture 10" descr="graduate.png"/>
          <p:cNvPicPr>
            <a:picLocks noChangeAspect="1"/>
          </p:cNvPicPr>
          <p:nvPr/>
        </p:nvPicPr>
        <p:blipFill>
          <a:blip r:embed="rId3"/>
          <a:stretch>
            <a:fillRect/>
          </a:stretch>
        </p:blipFill>
        <p:spPr>
          <a:xfrm>
            <a:off x="4555541" y="1949501"/>
            <a:ext cx="261518" cy="261518"/>
          </a:xfrm>
          <a:prstGeom prst="rect">
            <a:avLst/>
          </a:prstGeom>
        </p:spPr>
      </p:pic>
      <p:sp>
        <p:nvSpPr>
          <p:cNvPr id="12" name="TextBox 11"/>
          <p:cNvSpPr txBox="1"/>
          <p:nvPr/>
        </p:nvSpPr>
        <p:spPr>
          <a:xfrm>
            <a:off x="5120640" y="1673352"/>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PhD-qualified trainer specialising in AI, data and software engineering.</a:t>
            </a:r>
          </a:p>
        </p:txBody>
      </p:sp>
      <p:sp>
        <p:nvSpPr>
          <p:cNvPr id="13" name="Oval 12"/>
          <p:cNvSpPr/>
          <p:nvPr/>
        </p:nvSpPr>
        <p:spPr>
          <a:xfrm>
            <a:off x="4434840" y="2633472"/>
            <a:ext cx="502920" cy="502920"/>
          </a:xfrm>
          <a:prstGeom prst="ellipse">
            <a:avLst/>
          </a:prstGeom>
          <a:solidFill>
            <a:srgbClr val="3A7D7B"/>
          </a:solidFill>
          <a:ln>
            <a:noFill/>
          </a:ln>
          <a:effectLst/>
        </p:spPr>
        <p:txBody>
          <a:bodyPr rtlCol="0" anchor="ctr"/>
          <a:lstStyle/>
          <a:p>
            <a:pPr algn="ctr"/>
          </a:p>
        </p:txBody>
      </p:sp>
      <p:pic>
        <p:nvPicPr>
          <p:cNvPr id="14" name="Picture 13" descr="laptop.png"/>
          <p:cNvPicPr>
            <a:picLocks noChangeAspect="1"/>
          </p:cNvPicPr>
          <p:nvPr/>
        </p:nvPicPr>
        <p:blipFill>
          <a:blip r:embed="rId4"/>
          <a:stretch>
            <a:fillRect/>
          </a:stretch>
        </p:blipFill>
        <p:spPr>
          <a:xfrm>
            <a:off x="4555541" y="2754173"/>
            <a:ext cx="261518" cy="261518"/>
          </a:xfrm>
          <a:prstGeom prst="rect">
            <a:avLst/>
          </a:prstGeom>
        </p:spPr>
      </p:pic>
      <p:sp>
        <p:nvSpPr>
          <p:cNvPr id="15" name="TextBox 14"/>
          <p:cNvSpPr txBox="1"/>
          <p:nvPr/>
        </p:nvSpPr>
        <p:spPr>
          <a:xfrm>
            <a:off x="5120640" y="2478024"/>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Builds AI agents and Gemini and Google Workspace workflows for business teams.</a:t>
            </a:r>
          </a:p>
        </p:txBody>
      </p:sp>
      <p:sp>
        <p:nvSpPr>
          <p:cNvPr id="16" name="Oval 15"/>
          <p:cNvSpPr/>
          <p:nvPr/>
        </p:nvSpPr>
        <p:spPr>
          <a:xfrm>
            <a:off x="4434840" y="3438144"/>
            <a:ext cx="502920" cy="502920"/>
          </a:xfrm>
          <a:prstGeom prst="ellipse">
            <a:avLst/>
          </a:prstGeom>
          <a:solidFill>
            <a:srgbClr val="3A7D7B"/>
          </a:solidFill>
          <a:ln>
            <a:noFill/>
          </a:ln>
          <a:effectLst/>
        </p:spPr>
        <p:txBody>
          <a:bodyPr rtlCol="0" anchor="ctr"/>
          <a:lstStyle/>
          <a:p>
            <a:pPr algn="ctr"/>
          </a:p>
        </p:txBody>
      </p:sp>
      <p:pic>
        <p:nvPicPr>
          <p:cNvPr id="17" name="Picture 16" descr="teach.png"/>
          <p:cNvPicPr>
            <a:picLocks noChangeAspect="1"/>
          </p:cNvPicPr>
          <p:nvPr/>
        </p:nvPicPr>
        <p:blipFill>
          <a:blip r:embed="rId5"/>
          <a:stretch>
            <a:fillRect/>
          </a:stretch>
        </p:blipFill>
        <p:spPr>
          <a:xfrm>
            <a:off x="4555541" y="3558845"/>
            <a:ext cx="261518" cy="261518"/>
          </a:xfrm>
          <a:prstGeom prst="rect">
            <a:avLst/>
          </a:prstGeom>
        </p:spPr>
      </p:pic>
      <p:sp>
        <p:nvSpPr>
          <p:cNvPr id="18" name="TextBox 17"/>
          <p:cNvSpPr txBox="1"/>
          <p:nvPr/>
        </p:nvSpPr>
        <p:spPr>
          <a:xfrm>
            <a:off x="5120640" y="3282696"/>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Trains professionals across Singapore on practical, project-based AI skills.</a:t>
            </a:r>
          </a:p>
        </p:txBody>
      </p:sp>
      <p:sp>
        <p:nvSpPr>
          <p:cNvPr id="19" name="Oval 18"/>
          <p:cNvSpPr/>
          <p:nvPr/>
        </p:nvSpPr>
        <p:spPr>
          <a:xfrm>
            <a:off x="4434840" y="4242816"/>
            <a:ext cx="502920" cy="502920"/>
          </a:xfrm>
          <a:prstGeom prst="ellipse">
            <a:avLst/>
          </a:prstGeom>
          <a:solidFill>
            <a:srgbClr val="3A7D7B"/>
          </a:solidFill>
          <a:ln>
            <a:noFill/>
          </a:ln>
          <a:effectLst/>
        </p:spPr>
        <p:txBody>
          <a:bodyPr rtlCol="0" anchor="ctr"/>
          <a:lstStyle/>
          <a:p>
            <a:pPr algn="ctr"/>
          </a:p>
        </p:txBody>
      </p:sp>
      <p:pic>
        <p:nvPicPr>
          <p:cNvPr id="20" name="Picture 19" descr="badge.png"/>
          <p:cNvPicPr>
            <a:picLocks noChangeAspect="1"/>
          </p:cNvPicPr>
          <p:nvPr/>
        </p:nvPicPr>
        <p:blipFill>
          <a:blip r:embed="rId6"/>
          <a:stretch>
            <a:fillRect/>
          </a:stretch>
        </p:blipFill>
        <p:spPr>
          <a:xfrm>
            <a:off x="4555541" y="4363517"/>
            <a:ext cx="261518" cy="261518"/>
          </a:xfrm>
          <a:prstGeom prst="rect">
            <a:avLst/>
          </a:prstGeom>
        </p:spPr>
      </p:pic>
      <p:sp>
        <p:nvSpPr>
          <p:cNvPr id="21" name="TextBox 20"/>
          <p:cNvSpPr txBox="1"/>
          <p:nvPr/>
        </p:nvSpPr>
        <p:spPr>
          <a:xfrm>
            <a:off x="5120640" y="4087368"/>
            <a:ext cx="6400800" cy="822960"/>
          </a:xfrm>
          <a:prstGeom prst="rect">
            <a:avLst/>
          </a:prstGeom>
          <a:noFill/>
        </p:spPr>
        <p:txBody>
          <a:bodyPr wrap="square" anchor="ctr">
            <a:spAutoFit/>
          </a:bodyPr>
          <a:lstStyle/>
          <a:p>
            <a:pPr algn="l">
              <a:spcAft>
                <a:spcPts val="400"/>
              </a:spcAft>
            </a:pPr>
            <a:r>
              <a:rPr sz="1500" b="0">
                <a:solidFill>
                  <a:srgbClr val="21201C"/>
                </a:solidFill>
                <a:latin typeface="Calibri"/>
              </a:rPr>
              <a:t>Certifications: PMP, AWS, Microsoft, CompTIA, CKA, CKAD.</a:t>
            </a:r>
          </a:p>
        </p:txBody>
      </p:sp>
      <p:sp>
        <p:nvSpPr>
          <p:cNvPr id="22" name="Oval 21"/>
          <p:cNvSpPr/>
          <p:nvPr/>
        </p:nvSpPr>
        <p:spPr>
          <a:xfrm>
            <a:off x="4434840" y="5093208"/>
            <a:ext cx="502920" cy="502920"/>
          </a:xfrm>
          <a:prstGeom prst="ellipse">
            <a:avLst/>
          </a:prstGeom>
          <a:solidFill>
            <a:srgbClr val="D97757"/>
          </a:solidFill>
          <a:ln>
            <a:noFill/>
          </a:ln>
          <a:effectLst/>
        </p:spPr>
        <p:txBody>
          <a:bodyPr rtlCol="0" anchor="ctr"/>
          <a:lstStyle/>
          <a:p>
            <a:pPr algn="ctr"/>
          </a:p>
        </p:txBody>
      </p:sp>
      <p:pic>
        <p:nvPicPr>
          <p:cNvPr id="23" name="Picture 22" descr="linkedin.png"/>
          <p:cNvPicPr>
            <a:picLocks noChangeAspect="1"/>
          </p:cNvPicPr>
          <p:nvPr/>
        </p:nvPicPr>
        <p:blipFill>
          <a:blip r:embed="rId7"/>
          <a:stretch>
            <a:fillRect/>
          </a:stretch>
        </p:blipFill>
        <p:spPr>
          <a:xfrm>
            <a:off x="4555541" y="5213909"/>
            <a:ext cx="261518" cy="261518"/>
          </a:xfrm>
          <a:prstGeom prst="rect">
            <a:avLst/>
          </a:prstGeom>
        </p:spPr>
      </p:pic>
      <p:sp>
        <p:nvSpPr>
          <p:cNvPr id="24" name="TextBox 23"/>
          <p:cNvSpPr txBox="1"/>
          <p:nvPr/>
        </p:nvSpPr>
        <p:spPr>
          <a:xfrm>
            <a:off x="5120640" y="5065776"/>
            <a:ext cx="3108960" cy="548640"/>
          </a:xfrm>
          <a:prstGeom prst="rect">
            <a:avLst/>
          </a:prstGeom>
          <a:noFill/>
        </p:spPr>
        <p:txBody>
          <a:bodyPr wrap="square" anchor="ctr">
            <a:spAutoFit/>
          </a:bodyPr>
          <a:lstStyle/>
          <a:p>
            <a:pPr algn="l">
              <a:spcAft>
                <a:spcPts val="400"/>
              </a:spcAft>
            </a:pPr>
            <a:r>
              <a:rPr sz="1500" b="0">
                <a:solidFill>
                  <a:srgbClr val="21201C"/>
                </a:solidFill>
                <a:latin typeface="Calibri"/>
              </a:rPr>
              <a:t>linkedin.com/in/angchewhoe</a:t>
            </a:r>
          </a:p>
        </p:txBody>
      </p:sp>
      <p:sp>
        <p:nvSpPr>
          <p:cNvPr id="25" name="Oval 24"/>
          <p:cNvSpPr/>
          <p:nvPr/>
        </p:nvSpPr>
        <p:spPr>
          <a:xfrm>
            <a:off x="8458200" y="5093208"/>
            <a:ext cx="502920" cy="502920"/>
          </a:xfrm>
          <a:prstGeom prst="ellipse">
            <a:avLst/>
          </a:prstGeom>
          <a:solidFill>
            <a:srgbClr val="D97757"/>
          </a:solidFill>
          <a:ln>
            <a:noFill/>
          </a:ln>
          <a:effectLst/>
        </p:spPr>
        <p:txBody>
          <a:bodyPr rtlCol="0" anchor="ctr"/>
          <a:lstStyle/>
          <a:p>
            <a:pPr algn="ctr"/>
          </a:p>
        </p:txBody>
      </p:sp>
      <p:pic>
        <p:nvPicPr>
          <p:cNvPr id="26" name="Picture 25" descr="github.png"/>
          <p:cNvPicPr>
            <a:picLocks noChangeAspect="1"/>
          </p:cNvPicPr>
          <p:nvPr/>
        </p:nvPicPr>
        <p:blipFill>
          <a:blip r:embed="rId8"/>
          <a:stretch>
            <a:fillRect/>
          </a:stretch>
        </p:blipFill>
        <p:spPr>
          <a:xfrm>
            <a:off x="8578901" y="5213909"/>
            <a:ext cx="261518" cy="261518"/>
          </a:xfrm>
          <a:prstGeom prst="rect">
            <a:avLst/>
          </a:prstGeom>
        </p:spPr>
      </p:pic>
      <p:sp>
        <p:nvSpPr>
          <p:cNvPr id="27" name="TextBox 26"/>
          <p:cNvSpPr txBox="1"/>
          <p:nvPr/>
        </p:nvSpPr>
        <p:spPr>
          <a:xfrm>
            <a:off x="9144000" y="5065776"/>
            <a:ext cx="3108960" cy="548640"/>
          </a:xfrm>
          <a:prstGeom prst="rect">
            <a:avLst/>
          </a:prstGeom>
          <a:noFill/>
        </p:spPr>
        <p:txBody>
          <a:bodyPr wrap="square" anchor="ctr">
            <a:spAutoFit/>
          </a:bodyPr>
          <a:lstStyle/>
          <a:p>
            <a:pPr algn="l">
              <a:spcAft>
                <a:spcPts val="400"/>
              </a:spcAft>
            </a:pPr>
            <a:r>
              <a:rPr sz="1500" b="0">
                <a:solidFill>
                  <a:srgbClr val="21201C"/>
                </a:solidFill>
                <a:latin typeface="Calibri"/>
              </a:rPr>
              <a:t>github.com/alfredang</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Let's Know Each Other</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Your name, organisation and role.</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One spreadsheet you rebuild or clean every week or month.</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 formula, chart or report you wish someone would just build for you.</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Whether you can see the Ask Gemini (spark) button in Google Sheets on your account.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Set your mobile phone to silent mode.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Participate actively — no question is too small.</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Mutual respect: agree to disagree.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One conversation at a 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Be punctual; return from breaks on time.</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Learn by doing — try every hands-on lab.</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MATERIALS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Access Course Materials</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C817 course page or the trainer-supplied Drive folder</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courseware links for this course</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Download the Slides, Learner Guide and Lesson Plan</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labs folder for all 12 lab folders</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Keep the files together as you work</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a:t>
            </a:r>
          </a:p>
        </p:txBody>
      </p:sp>
      <p:sp>
        <p:nvSpPr>
          <p:cNvPr id="37" name="TextBox 36"/>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D97757"/>
                </a:solidFill>
                <a:latin typeface="Calibri"/>
              </a:rPr>
              <a:t>Course page:  tertiarycourses.com.sg/gemini-for-google-sheet.html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Lesson Plan — 1 Day, 7.5 instructional hours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Day format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Topic 1: Fundamentals of Google Sheet (Labs 1–4)</a:t>
            </a:r>
          </a:p>
          <a:p>
            <a:pPr>
              <a:spcAft>
                <a:spcPts val="1000"/>
              </a:spcAft>
            </a:pPr>
            <a:r>
              <a:rPr sz="1600" b="0">
                <a:solidFill>
                  <a:srgbClr val="21201C"/>
                </a:solidFill>
                <a:latin typeface="Calibri"/>
              </a:rPr>
              <a:t>•  Topic 2: Data Analytics and Visualization (Labs 5–8)</a:t>
            </a:r>
          </a:p>
          <a:p>
            <a:pPr>
              <a:spcAft>
                <a:spcPts val="1000"/>
              </a:spcAft>
            </a:pPr>
            <a:r>
              <a:rPr sz="1600" b="0">
                <a:solidFill>
                  <a:srgbClr val="21201C"/>
                </a:solidFill>
                <a:latin typeface="Calibri"/>
              </a:rPr>
              <a:t>•  Topic 3: Interactive Dashboard (Labs 9–12)</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Daily timing</a:t>
            </a:r>
          </a:p>
          <a:p>
            <a:pPr>
              <a:spcAft>
                <a:spcPts val="1000"/>
              </a:spcAft>
            </a:pPr>
            <a:r>
              <a:rPr sz="1400" b="0">
                <a:solidFill>
                  <a:srgbClr val="6B6862"/>
                </a:solidFill>
                <a:latin typeface="Calibri"/>
              </a:rPr>
              <a:t>–  9:30 am - 6:30 pm (1-hour lunch; two 15-minute tea breaks; 7.5 instructional hours)</a:t>
            </a:r>
          </a:p>
          <a:p>
            <a:pPr>
              <a:spcAft>
                <a:spcPts val="1000"/>
              </a:spcAft>
            </a:pPr>
            <a:r>
              <a:rPr sz="1600" b="0">
                <a:solidFill>
                  <a:srgbClr val="21201C"/>
                </a:solidFill>
                <a:latin typeface="Calibri"/>
              </a:rPr>
              <a:t>•  Instructional time</a:t>
            </a:r>
          </a:p>
          <a:p>
            <a:pPr>
              <a:spcAft>
                <a:spcPts val="1000"/>
              </a:spcAft>
            </a:pPr>
            <a:r>
              <a:rPr sz="1400" b="0">
                <a:solidFill>
                  <a:srgbClr val="6B6862"/>
                </a:solidFill>
                <a:latin typeface="Calibri"/>
              </a:rPr>
              <a:t>–  7.5 hours · 12 connected labs</a:t>
            </a:r>
          </a:p>
          <a:p>
            <a:pPr>
              <a:spcAft>
                <a:spcPts val="1000"/>
              </a:spcAft>
            </a:pPr>
            <a:r>
              <a:rPr sz="1600" b="0">
                <a:solidFill>
                  <a:srgbClr val="21201C"/>
                </a:solidFill>
                <a:latin typeface="Calibri"/>
              </a:rPr>
              <a:t>•  Learning arc</a:t>
            </a:r>
          </a:p>
          <a:p>
            <a:pPr>
              <a:spcAft>
                <a:spcPts val="1000"/>
              </a:spcAft>
            </a:pPr>
            <a:r>
              <a:rPr sz="1400" b="0">
                <a:solidFill>
                  <a:srgbClr val="6B6862"/>
                </a:solidFill>
                <a:latin typeface="Calibri"/>
              </a:rPr>
              <a:t>–  Concept → demonstrate → build → verify → discuss → recap</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ROADMAP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Twelve Labs in Three Topics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Fundamentals of Google Sheet</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400" b="0">
                <a:solidFill>
                  <a:srgbClr val="21201C"/>
                </a:solidFill>
                <a:latin typeface="Calibri"/>
              </a:rPr>
              <a:t>•  Lab 1: Gemini Side Panel &amp; Summaries</a:t>
            </a:r>
          </a:p>
          <a:p>
            <a:pPr>
              <a:spcAft>
                <a:spcPts val="900"/>
              </a:spcAft>
            </a:pPr>
            <a:r>
              <a:rPr sz="1400" b="0">
                <a:solidFill>
                  <a:srgbClr val="21201C"/>
                </a:solidFill>
                <a:latin typeface="Calibri"/>
              </a:rPr>
              <a:t>•  Lab 2: Data Quality Check</a:t>
            </a:r>
          </a:p>
          <a:p>
            <a:pPr>
              <a:spcAft>
                <a:spcPts val="900"/>
              </a:spcAft>
            </a:pPr>
            <a:r>
              <a:rPr sz="1400" b="0">
                <a:solidFill>
                  <a:srgbClr val="21201C"/>
                </a:solidFill>
                <a:latin typeface="Calibri"/>
              </a:rPr>
              <a:t>•  Lab 3: Data Prep</a:t>
            </a:r>
          </a:p>
          <a:p>
            <a:pPr>
              <a:spcAft>
                <a:spcPts val="900"/>
              </a:spcAft>
            </a:pPr>
            <a:r>
              <a:rPr sz="1400" b="0">
                <a:solidFill>
                  <a:srgbClr val="21201C"/>
                </a:solidFill>
                <a:latin typeface="Calibri"/>
              </a:rPr>
              <a:t>•  Lab 4: Formulas: VLOOKUP, COUNTIF &amp; Nested IF</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Data Analytics &amp; Visualization</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400" b="0">
                <a:solidFill>
                  <a:srgbClr val="21201C"/>
                </a:solidFill>
                <a:latin typeface="Calibri"/>
              </a:rPr>
              <a:t>•  Lab 5: Tables, Trackers &amp; Conditional Formatting</a:t>
            </a:r>
          </a:p>
          <a:p>
            <a:pPr>
              <a:spcAft>
                <a:spcPts val="900"/>
              </a:spcAft>
            </a:pPr>
            <a:r>
              <a:rPr sz="1400" b="0">
                <a:solidFill>
                  <a:srgbClr val="21201C"/>
                </a:solidFill>
                <a:latin typeface="Calibri"/>
              </a:rPr>
              <a:t>•  Lab 6: AI Function &amp; Fill with Gemini</a:t>
            </a:r>
          </a:p>
          <a:p>
            <a:pPr>
              <a:spcAft>
                <a:spcPts val="900"/>
              </a:spcAft>
            </a:pPr>
            <a:r>
              <a:rPr sz="1400" b="0">
                <a:solidFill>
                  <a:srgbClr val="21201C"/>
                </a:solidFill>
                <a:latin typeface="Calibri"/>
              </a:rPr>
              <a:t>•  Lab 7: Data Analysis &amp; Insights</a:t>
            </a:r>
          </a:p>
          <a:p>
            <a:pPr>
              <a:spcAft>
                <a:spcPts val="900"/>
              </a:spcAft>
            </a:pPr>
            <a:r>
              <a:rPr sz="1400" b="0">
                <a:solidFill>
                  <a:srgbClr val="21201C"/>
                </a:solidFill>
                <a:latin typeface="Calibri"/>
              </a:rPr>
              <a:t>•  Lab 8: Charts &amp; Visualisation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Interactive Dashboard</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400" b="0">
                <a:solidFill>
                  <a:srgbClr val="21201C"/>
                </a:solidFill>
                <a:latin typeface="Calibri"/>
              </a:rPr>
              <a:t>•  Lab 9: Dashboard KPIs &amp; Selectors</a:t>
            </a:r>
          </a:p>
          <a:p>
            <a:pPr>
              <a:spcAft>
                <a:spcPts val="900"/>
              </a:spcAft>
            </a:pPr>
            <a:r>
              <a:rPr sz="1400" b="0">
                <a:solidFill>
                  <a:srgbClr val="21201C"/>
                </a:solidFill>
                <a:latin typeface="Calibri"/>
              </a:rPr>
              <a:t>•  Lab 10: Interactive Dashboard</a:t>
            </a:r>
          </a:p>
          <a:p>
            <a:pPr>
              <a:spcAft>
                <a:spcPts val="900"/>
              </a:spcAft>
            </a:pPr>
            <a:r>
              <a:rPr sz="1400" b="0">
                <a:solidFill>
                  <a:srgbClr val="21201C"/>
                </a:solidFill>
                <a:latin typeface="Calibri"/>
              </a:rPr>
              <a:t>•  Lab 11: Gems</a:t>
            </a:r>
          </a:p>
          <a:p>
            <a:pPr>
              <a:spcAft>
                <a:spcPts val="900"/>
              </a:spcAft>
            </a:pPr>
            <a:r>
              <a:rPr sz="1400" b="0">
                <a:solidFill>
                  <a:srgbClr val="21201C"/>
                </a:solidFill>
                <a:latin typeface="Calibri"/>
              </a:rPr>
              <a:t>•  Lab 12: Optimisation, Reporting &amp; Safe Sharing</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Outcomes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Sheets Fundamentals</a:t>
            </a:r>
          </a:p>
          <a:p>
            <a:pPr algn="l">
              <a:spcAft>
                <a:spcPts val="300"/>
              </a:spcAft>
            </a:pPr>
            <a:r>
              <a:rPr sz="1300" b="0">
                <a:solidFill>
                  <a:srgbClr val="6B6862"/>
                </a:solidFill>
                <a:latin typeface="Calibri"/>
              </a:rPr>
              <a:t>Use Gemini in Google Sheets - the side panel, actions and formula help - to summarise, quality-check and prepare HR data, and to generate, explain and fix formulas such as VLOOKUP, COUNTIF and nested IF.</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Analytics &amp; Visualization</a:t>
            </a:r>
          </a:p>
          <a:p>
            <a:pPr algn="l">
              <a:spcAft>
                <a:spcPts val="300"/>
              </a:spcAft>
            </a:pPr>
            <a:r>
              <a:rPr sz="1300" b="0">
                <a:solidFill>
                  <a:srgbClr val="6B6862"/>
                </a:solidFill>
                <a:latin typeface="Calibri"/>
              </a:rPr>
              <a:t>Create colour-coded tables, trackers and dropdowns, extract and categorise text with the AI function, and generate data analysis, insights, pivot tables and charts with Gemini, verifying every result.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Interactive Dashboard</a:t>
            </a:r>
          </a:p>
          <a:p>
            <a:pPr algn="l">
              <a:spcAft>
                <a:spcPts val="300"/>
              </a:spcAft>
            </a:pPr>
            <a:r>
              <a:rPr sz="1300" b="0">
                <a:solidFill>
                  <a:srgbClr val="6B6862"/>
                </a:solidFill>
                <a:latin typeface="Calibri"/>
              </a:rPr>
              <a:t>Build an interactive hiring dashboard, automate repeat screening with a custom Gem, and use Gemini's optimisation solver, reporting and sharing features responsibly.</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How You'll Learn</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demonstrates the concept</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You build it yourself in the hands-on lab</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Verify with the lab's 'Test it' step</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Discuss and troubleshoot together</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Recap against the learning outcomes</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CORE CONCEPTS</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Gemini in Google Sheets for HR and Recruitment</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Gemini for Google Sheet (C817)  ·  C817</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OVERVIEW</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Orchid Bay Scenario</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Orchid Bay Talent Partners</a:t>
            </a:r>
          </a:p>
          <a:p>
            <a:pPr algn="l">
              <a:spcAft>
                <a:spcPts val="300"/>
              </a:spcAft>
            </a:pPr>
            <a:r>
              <a:rPr sz="1300" b="0">
                <a:solidFill>
                  <a:srgbClr val="6B6862"/>
                </a:solidFill>
                <a:latin typeface="Calibri"/>
              </a:rPr>
              <a:t>A fictional Singapore recruitment and HR services firm.</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The Q3 2026 hiring drive</a:t>
            </a:r>
          </a:p>
          <a:p>
            <a:pPr algn="l">
              <a:spcAft>
                <a:spcPts val="300"/>
              </a:spcAft>
            </a:pPr>
            <a:r>
              <a:rPr sz="1300" b="0">
                <a:solidFill>
                  <a:srgbClr val="6B6862"/>
                </a:solidFill>
                <a:latin typeface="Calibri"/>
              </a:rPr>
              <a:t>8 client roles, 12 openings, 240 applications - plus 2026 year-to-date data.</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One storyline</a:t>
            </a:r>
          </a:p>
          <a:p>
            <a:pPr algn="l">
              <a:spcAft>
                <a:spcPts val="300"/>
              </a:spcAft>
            </a:pPr>
            <a:r>
              <a:rPr sz="1300" b="0">
                <a:solidFill>
                  <a:srgbClr val="6B6862"/>
                </a:solidFill>
                <a:latin typeface="Calibri"/>
              </a:rPr>
              <a:t>Raw export &gt; clean data &gt; screening formulas &gt; tracker &gt; insights &gt; dashboard &gt; Gem &gt; decision.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Your role</a:t>
            </a:r>
          </a:p>
          <a:p>
            <a:pPr algn="l">
              <a:spcAft>
                <a:spcPts val="300"/>
              </a:spcAft>
            </a:pPr>
            <a:r>
              <a:rPr sz="1300" b="0">
                <a:solidFill>
                  <a:srgbClr val="6B6862"/>
                </a:solidFill>
                <a:latin typeface="Calibri"/>
              </a:rPr>
              <a:t>Talent analyst using Gemini to screen candidates and report - and checking every number.</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01</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Fundamentals of Google Sheet</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Gemini side panel and summaries · data quality checks · data prep with Gemini actions · generating, explaining and fixing formulas (VLOOKUP, COUNTIF, nested IF)</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Gemini for Google Sheet (C817)  ·  C817</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914400" y="1828800"/>
            <a:ext cx="8412480" cy="457200"/>
          </a:xfrm>
          <a:prstGeom prst="rect">
            <a:avLst/>
          </a:prstGeom>
          <a:noFill/>
        </p:spPr>
        <p:txBody>
          <a:bodyPr wrap="square" anchor="t">
            <a:spAutoFit/>
          </a:bodyPr>
          <a:lstStyle/>
          <a:p>
            <a:pPr algn="l">
              <a:spcAft>
                <a:spcPts val="400"/>
              </a:spcAft>
            </a:pPr>
            <a:r>
              <a:rPr sz="1400" b="1">
                <a:solidFill>
                  <a:srgbClr val="D97757"/>
                </a:solidFill>
                <a:latin typeface="Calibri"/>
              </a:rPr>
              <a:t>C817 OPERATING PRINCIPLE</a:t>
            </a:r>
          </a:p>
        </p:txBody>
      </p:sp>
      <p:sp>
        <p:nvSpPr>
          <p:cNvPr id="6" name="TextBox 5"/>
          <p:cNvSpPr txBox="1"/>
          <p:nvPr/>
        </p:nvSpPr>
        <p:spPr>
          <a:xfrm>
            <a:off x="868680" y="2331720"/>
            <a:ext cx="8503920" cy="2103120"/>
          </a:xfrm>
          <a:prstGeom prst="rect">
            <a:avLst/>
          </a:prstGeom>
          <a:noFill/>
        </p:spPr>
        <p:txBody>
          <a:bodyPr wrap="square" anchor="t">
            <a:spAutoFit/>
          </a:bodyPr>
          <a:lstStyle/>
          <a:p>
            <a:pPr algn="l">
              <a:spcAft>
                <a:spcPts val="400"/>
              </a:spcAft>
            </a:pPr>
            <a:r>
              <a:rPr sz="4000" b="1">
                <a:solidFill>
                  <a:srgbClr val="FFFFFF"/>
                </a:solidFill>
                <a:latin typeface="Cambria"/>
              </a:rPr>
              <a:t>Gemini drafts. Formulas prove. People decide.</a:t>
            </a:r>
          </a:p>
        </p:txBody>
      </p:sp>
      <p:sp>
        <p:nvSpPr>
          <p:cNvPr id="7" name="TextBox 6"/>
          <p:cNvSpPr txBox="1"/>
          <p:nvPr/>
        </p:nvSpPr>
        <p:spPr>
          <a:xfrm>
            <a:off x="914400" y="4526280"/>
            <a:ext cx="8412480" cy="1280160"/>
          </a:xfrm>
          <a:prstGeom prst="rect">
            <a:avLst/>
          </a:prstGeom>
          <a:noFill/>
        </p:spPr>
        <p:txBody>
          <a:bodyPr wrap="square" anchor="t">
            <a:spAutoFit/>
          </a:bodyPr>
          <a:lstStyle/>
          <a:p>
            <a:pPr algn="l">
              <a:spcAft>
                <a:spcPts val="400"/>
              </a:spcAft>
            </a:pPr>
            <a:r>
              <a:rPr sz="1800" b="0">
                <a:solidFill>
                  <a:srgbClr val="B9B4A9"/>
                </a:solidFill>
                <a:latin typeface="Calibri"/>
              </a:rPr>
              <a:t>Describe the task precisely, check every result against the data, and keep decisions about candidates with accountable people.</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Gemini for Google Sheet (C817)  ·  C817</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FROM GOOGLE'S OFFICIAL GUIDE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What Gemini in Google Sheets Does - and Where You Practise It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Summarise and ask</a:t>
            </a:r>
          </a:p>
          <a:p>
            <a:pPr algn="l">
              <a:spcAft>
                <a:spcPts val="300"/>
              </a:spcAft>
            </a:pPr>
            <a:r>
              <a:rPr sz="1200" b="0">
                <a:solidFill>
                  <a:srgbClr val="6B6862"/>
                </a:solidFill>
                <a:latin typeface="Calibri"/>
              </a:rPr>
              <a:t>Summaries and questions about your data - Labs 1, 2.</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Perform actions</a:t>
            </a:r>
          </a:p>
          <a:p>
            <a:pPr algn="l">
              <a:spcAft>
                <a:spcPts val="300"/>
              </a:spcAft>
            </a:pPr>
            <a:r>
              <a:rPr sz="1200" b="0">
                <a:solidFill>
                  <a:srgbClr val="6B6862"/>
                </a:solidFill>
                <a:latin typeface="Calibri"/>
              </a:rPr>
              <a:t>Formatting, find and replace, sort, filter, freeze, insert, delete - Labs 2, 3, 5.</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Create formulas</a:t>
            </a:r>
          </a:p>
          <a:p>
            <a:pPr algn="l">
              <a:spcAft>
                <a:spcPts val="300"/>
              </a:spcAft>
            </a:pPr>
            <a:r>
              <a:rPr sz="1200" b="0">
                <a:solidFill>
                  <a:srgbClr val="6B6862"/>
                </a:solidFill>
                <a:latin typeface="Calibri"/>
              </a:rPr>
              <a:t>Generate, explain and fix - Labs 4, 9.</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Create tables</a:t>
            </a:r>
          </a:p>
          <a:p>
            <a:pPr algn="l">
              <a:spcAft>
                <a:spcPts val="300"/>
              </a:spcAft>
            </a:pPr>
            <a:r>
              <a:rPr sz="1200" b="0">
                <a:solidFill>
                  <a:srgbClr val="6B6862"/>
                </a:solidFill>
                <a:latin typeface="Calibri"/>
              </a:rPr>
              <a:t>From scratch or from notes - Lab 5.</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AI function</a:t>
            </a:r>
          </a:p>
          <a:p>
            <a:pPr algn="l">
              <a:spcAft>
                <a:spcPts val="300"/>
              </a:spcAft>
            </a:pPr>
            <a:r>
              <a:rPr sz="1200" b="0">
                <a:solidFill>
                  <a:srgbClr val="6B6862"/>
                </a:solidFill>
                <a:latin typeface="Calibri"/>
              </a:rPr>
              <a:t>=AI and Fill with Gemini in cells - Lab 6.</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Analysis and insights</a:t>
            </a:r>
          </a:p>
          <a:p>
            <a:pPr algn="l">
              <a:spcAft>
                <a:spcPts val="300"/>
              </a:spcAft>
            </a:pPr>
            <a:r>
              <a:rPr sz="1200" b="0">
                <a:solidFill>
                  <a:srgbClr val="6B6862"/>
                </a:solidFill>
                <a:latin typeface="Calibri"/>
              </a:rPr>
              <a:t>Trends, pivot tables, Export to Docs - Lab 7.</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FROM GOOGLE'S OFFICIAL GUIDE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What Gemini in Google Sheets Does - and Where You Practise It (cont.)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5B4B8A"/>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7</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Charts and graphs</a:t>
            </a:r>
          </a:p>
          <a:p>
            <a:pPr algn="l">
              <a:spcAft>
                <a:spcPts val="300"/>
              </a:spcAft>
            </a:pPr>
            <a:r>
              <a:rPr sz="1200" b="0">
                <a:solidFill>
                  <a:srgbClr val="6B6862"/>
                </a:solidFill>
                <a:latin typeface="Calibri"/>
              </a:rPr>
              <a:t>Preview, Insert, Copy - Lab 8.</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C2603F"/>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C2603F"/>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8</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Gems</a:t>
            </a:r>
          </a:p>
          <a:p>
            <a:pPr algn="l">
              <a:spcAft>
                <a:spcPts val="300"/>
              </a:spcAft>
            </a:pPr>
            <a:r>
              <a:rPr sz="1200" b="0">
                <a:solidFill>
                  <a:srgbClr val="6B6862"/>
                </a:solidFill>
                <a:latin typeface="Calibri"/>
              </a:rPr>
              <a:t>Custom assistants in the side panel - Lab 11.</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D97757"/>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9</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Optimisation solver</a:t>
            </a:r>
          </a:p>
          <a:p>
            <a:pPr algn="l">
              <a:spcAft>
                <a:spcPts val="300"/>
              </a:spcAft>
            </a:pPr>
            <a:r>
              <a:rPr sz="1200" b="0">
                <a:solidFill>
                  <a:srgbClr val="6B6862"/>
                </a:solidFill>
                <a:latin typeface="Calibri"/>
              </a:rPr>
              <a:t>Best combination under constraints - Lab 12.</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3A7D7B"/>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3A7D7B"/>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10</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Drive, Gmail and the web</a:t>
            </a:r>
          </a:p>
          <a:p>
            <a:pPr algn="l">
              <a:spcAft>
                <a:spcPts val="300"/>
              </a:spcAft>
            </a:pPr>
            <a:r>
              <a:rPr sz="1200" b="0">
                <a:solidFill>
                  <a:srgbClr val="6B6862"/>
                </a:solidFill>
                <a:latin typeface="Calibri"/>
              </a:rPr>
              <a:t>Files, emails and search as context - Labs 7, 12.</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LABS 1-4</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Fundamentals of Google Sheet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Native Sheets first</a:t>
            </a:r>
          </a:p>
          <a:p>
            <a:pPr algn="l">
              <a:spcAft>
                <a:spcPts val="300"/>
              </a:spcAft>
            </a:pPr>
            <a:r>
              <a:rPr sz="1400" b="0">
                <a:solidFill>
                  <a:srgbClr val="6B6862"/>
                </a:solidFill>
                <a:latin typeface="Calibri"/>
              </a:rPr>
              <a:t>Gemini works best on a Google Sheets file - save an .xlsx as Google Sheets first.</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Ask, then insert</a:t>
            </a:r>
          </a:p>
          <a:p>
            <a:pPr algn="l">
              <a:spcAft>
                <a:spcPts val="300"/>
              </a:spcAft>
            </a:pPr>
            <a:r>
              <a:rPr sz="1400" b="0">
                <a:solidFill>
                  <a:srgbClr val="6B6862"/>
                </a:solidFill>
                <a:latin typeface="Calibri"/>
              </a:rPr>
              <a:t>Answers stay in the side panel until you click Insert. Insert anything you want to keep.</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Actions you approve</a:t>
            </a:r>
          </a:p>
          <a:p>
            <a:pPr algn="l">
              <a:spcAft>
                <a:spcPts val="300"/>
              </a:spcAft>
            </a:pPr>
            <a:r>
              <a:rPr sz="1400" b="0">
                <a:solidFill>
                  <a:srgbClr val="6B6862"/>
                </a:solidFill>
                <a:latin typeface="Calibri"/>
              </a:rPr>
              <a:t>For edits, Gemini shows an Action preview card. You click Apply - and can Undo.</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Name the tab and column</a:t>
            </a:r>
          </a:p>
          <a:p>
            <a:pPr algn="l">
              <a:spcAft>
                <a:spcPts val="300"/>
              </a:spcAft>
            </a:pPr>
            <a:r>
              <a:rPr sz="1400" b="0">
                <a:solidFill>
                  <a:srgbClr val="6B6862"/>
                </a:solidFill>
                <a:latin typeface="Calibri"/>
              </a:rPr>
              <a:t>'Count Hired in the Stage column on Applications' beats 'analyse my data'.</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Describe the formula</a:t>
            </a:r>
          </a:p>
          <a:p>
            <a:pPr algn="l">
              <a:spcAft>
                <a:spcPts val="300"/>
              </a:spcAft>
            </a:pPr>
            <a:r>
              <a:rPr sz="1400" b="0">
                <a:solidFill>
                  <a:srgbClr val="6B6862"/>
                </a:solidFill>
                <a:latin typeface="Calibri"/>
              </a:rPr>
              <a:t>Write the rule in plain English; Gemini writes VLOOKUP, IF or COUNTIFS and explains it.</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Check every number</a:t>
            </a:r>
          </a:p>
          <a:p>
            <a:pPr algn="l">
              <a:spcAft>
                <a:spcPts val="300"/>
              </a:spcAft>
            </a:pPr>
            <a:r>
              <a:rPr sz="1400" b="0">
                <a:solidFill>
                  <a:srgbClr val="6B6862"/>
                </a:solidFill>
                <a:latin typeface="Calibri"/>
              </a:rPr>
              <a:t>Confirm Gemini's answers with your own COUNTIF, COUNTIFS or pivot-table total.</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Hands-On Labs — Fundamentals of Google Sheet</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1–2</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Gemini Side Panel &amp; Summaries</a:t>
            </a:r>
          </a:p>
          <a:p>
            <a:pPr>
              <a:spcAft>
                <a:spcPts val="900"/>
              </a:spcAft>
            </a:pPr>
            <a:r>
              <a:rPr sz="1200" b="0">
                <a:solidFill>
                  <a:srgbClr val="6B6862"/>
                </a:solidFill>
                <a:latin typeface="Calibri"/>
              </a:rPr>
              <a:t>–  Open Gemini and Explore the Q3 Candidate Export</a:t>
            </a:r>
          </a:p>
          <a:p>
            <a:pPr>
              <a:spcAft>
                <a:spcPts val="900"/>
              </a:spcAft>
            </a:pPr>
            <a:r>
              <a:rPr sz="1400" b="1">
                <a:solidFill>
                  <a:srgbClr val="21201C"/>
                </a:solidFill>
                <a:latin typeface="Calibri"/>
              </a:rPr>
              <a:t>•  Data Quality Check</a:t>
            </a:r>
          </a:p>
          <a:p>
            <a:pPr>
              <a:spcAft>
                <a:spcPts val="900"/>
              </a:spcAft>
            </a:pPr>
            <a:r>
              <a:rPr sz="1200" b="0">
                <a:solidFill>
                  <a:srgbClr val="6B6862"/>
                </a:solidFill>
                <a:latin typeface="Calibri"/>
              </a:rPr>
              <a:t>–  Check the Quality of the Candidate Data with Gemini</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3–4</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Data Prep</a:t>
            </a:r>
          </a:p>
          <a:p>
            <a:pPr>
              <a:spcAft>
                <a:spcPts val="900"/>
              </a:spcAft>
            </a:pPr>
            <a:r>
              <a:rPr sz="1200" b="0">
                <a:solidFill>
                  <a:srgbClr val="6B6862"/>
                </a:solidFill>
                <a:latin typeface="Calibri"/>
              </a:rPr>
              <a:t>–  Clean and Prepare the Candidate Data with Gemini Actions</a:t>
            </a:r>
          </a:p>
          <a:p>
            <a:pPr>
              <a:spcAft>
                <a:spcPts val="900"/>
              </a:spcAft>
            </a:pPr>
            <a:r>
              <a:rPr sz="1400" b="1">
                <a:solidFill>
                  <a:srgbClr val="21201C"/>
                </a:solidFill>
                <a:latin typeface="Calibri"/>
              </a:rPr>
              <a:t>•  Formulas: VLOOKUP, COUNTIF &amp; Nested IF</a:t>
            </a:r>
          </a:p>
          <a:p>
            <a:pPr>
              <a:spcAft>
                <a:spcPts val="900"/>
              </a:spcAft>
            </a:pPr>
            <a:r>
              <a:rPr sz="1200" b="0">
                <a:solidFill>
                  <a:srgbClr val="6B6862"/>
                </a:solidFill>
                <a:latin typeface="Calibri"/>
              </a:rPr>
              <a:t>–  Generate, Explain and Fix Screening Formulas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Gemini in Google Sheets Can Do</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Google's AI built into Sheets: tables, formulas, analysis, charts and actions from plain-English prompts.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It speeds up routine spreadsheet work - but its output is a proposal until you check it.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Can you name three things Gemini can do and one it should not decide for you?</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Gemini — What Gemini in Google Sheets Can Do</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Open a sheet &gt; Ask Gemini (spark, top right).</a:t>
            </a:r>
          </a:p>
          <a:p>
            <a:pPr>
              <a:spcAft>
                <a:spcPts val="1000"/>
              </a:spcAft>
            </a:pPr>
            <a:r>
              <a:rPr sz="1600" b="0">
                <a:solidFill>
                  <a:srgbClr val="21201C"/>
                </a:solidFill>
                <a:latin typeface="Calibri"/>
              </a:rPr>
              <a:t>•  Summarize this spreadsheet.</a:t>
            </a:r>
          </a:p>
          <a:p>
            <a:pPr>
              <a:spcAft>
                <a:spcPts val="1000"/>
              </a:spcAft>
            </a:pPr>
            <a:r>
              <a:rPr sz="1600" b="0">
                <a:solidFill>
                  <a:srgbClr val="21201C"/>
                </a:solidFill>
                <a:latin typeface="Calibri"/>
              </a:rPr>
              <a:t>•  Which Position has the most applications?</a:t>
            </a:r>
          </a:p>
          <a:p>
            <a:pPr>
              <a:spcAft>
                <a:spcPts val="1000"/>
              </a:spcAft>
            </a:pPr>
            <a:r>
              <a:rPr sz="1600" b="0">
                <a:solidFill>
                  <a:srgbClr val="21201C"/>
                </a:solidFill>
                <a:latin typeface="Calibri"/>
              </a:rPr>
              <a:t>•  Shortcut: Cmd + Ctrl + N (Mac) / Ctrl + Alt + N (Windows).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Rows and dates match the About tab.</a:t>
            </a:r>
          </a:p>
          <a:p>
            <a:pPr>
              <a:spcAft>
                <a:spcPts val="1000"/>
              </a:spcAft>
            </a:pPr>
            <a:r>
              <a:rPr sz="1600" b="0">
                <a:solidFill>
                  <a:srgbClr val="21201C"/>
                </a:solidFill>
                <a:latin typeface="Calibri"/>
              </a:rPr>
              <a:t>•  A COUNTIF agrees with Gemini's count.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Gemini in Google Sheets: the Side Panel</a:t>
            </a:r>
          </a:p>
        </p:txBody>
      </p:sp>
      <p:sp>
        <p:nvSpPr>
          <p:cNvPr id="5" name="Rectangle 4"/>
          <p:cNvSpPr/>
          <p:nvPr/>
        </p:nvSpPr>
        <p:spPr>
          <a:xfrm>
            <a:off x="2837744" y="1792224"/>
            <a:ext cx="6516207" cy="4224528"/>
          </a:xfrm>
          <a:prstGeom prst="rect">
            <a:avLst/>
          </a:prstGeom>
          <a:solidFill>
            <a:srgbClr val="DCD8CF"/>
          </a:solidFill>
          <a:ln>
            <a:noFill/>
          </a:ln>
          <a:effectLst/>
        </p:spPr>
        <p:txBody>
          <a:bodyPr rtlCol="0" anchor="ctr"/>
          <a:lstStyle/>
          <a:p>
            <a:pPr algn="ctr"/>
          </a:p>
        </p:txBody>
      </p:sp>
      <p:pic>
        <p:nvPicPr>
          <p:cNvPr id="6" name="Picture 5" descr="gemini-side-panel.png"/>
          <p:cNvPicPr>
            <a:picLocks noChangeAspect="1"/>
          </p:cNvPicPr>
          <p:nvPr/>
        </p:nvPicPr>
        <p:blipFill>
          <a:blip r:embed="rId2"/>
          <a:stretch>
            <a:fillRect/>
          </a:stretch>
        </p:blipFill>
        <p:spPr>
          <a:xfrm>
            <a:off x="2892608" y="1847088"/>
            <a:ext cx="6406480" cy="4114800"/>
          </a:xfrm>
          <a:prstGeom prst="rect">
            <a:avLst/>
          </a:prstGeom>
        </p:spPr>
      </p:pic>
      <p:sp>
        <p:nvSpPr>
          <p:cNvPr id="7" name="TextBox 6"/>
          <p:cNvSpPr txBox="1"/>
          <p:nvPr/>
        </p:nvSpPr>
        <p:spPr>
          <a:xfrm>
            <a:off x="777240" y="6053328"/>
            <a:ext cx="10607040" cy="365760"/>
          </a:xfrm>
          <a:prstGeom prst="rect">
            <a:avLst/>
          </a:prstGeom>
          <a:noFill/>
        </p:spPr>
        <p:txBody>
          <a:bodyPr wrap="square" anchor="t">
            <a:spAutoFit/>
          </a:bodyPr>
          <a:lstStyle/>
          <a:p>
            <a:pPr algn="ctr">
              <a:spcAft>
                <a:spcPts val="400"/>
              </a:spcAft>
            </a:pPr>
            <a:r>
              <a:rPr sz="1200" b="0">
                <a:solidFill>
                  <a:srgbClr val="6B6862"/>
                </a:solidFill>
                <a:latin typeface="Calibri"/>
              </a:rPr>
              <a:t>Summary of the sheet, suggestions, Gems and the prompt box with its sources.   Screenshot: Google Docs Editors Help - Collaborate with Gemini in Google Sheets</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COMPARE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Five Ways to Work with Gemini in Sheets</a:t>
            </a:r>
          </a:p>
        </p:txBody>
      </p:sp>
      <p:sp>
        <p:nvSpPr>
          <p:cNvPr id="5" name="Rectangle 4"/>
          <p:cNvSpPr/>
          <p:nvPr/>
        </p:nvSpPr>
        <p:spPr>
          <a:xfrm>
            <a:off x="2404872" y="1783080"/>
            <a:ext cx="175199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2404872" y="1783080"/>
            <a:ext cx="1751990" cy="457200"/>
          </a:xfrm>
          <a:prstGeom prst="rect">
            <a:avLst/>
          </a:prstGeom>
          <a:noFill/>
        </p:spPr>
        <p:txBody>
          <a:bodyPr wrap="square" anchor="ctr">
            <a:spAutoFit/>
          </a:bodyPr>
          <a:lstStyle/>
          <a:p>
            <a:pPr algn="ctr">
              <a:spcAft>
                <a:spcPts val="400"/>
              </a:spcAft>
            </a:pPr>
            <a:r>
              <a:rPr sz="1500" b="1">
                <a:solidFill>
                  <a:srgbClr val="FFFFFF"/>
                </a:solidFill>
                <a:latin typeface="Calibri"/>
              </a:rPr>
              <a:t>Side panel answer</a:t>
            </a:r>
          </a:p>
        </p:txBody>
      </p:sp>
      <p:sp>
        <p:nvSpPr>
          <p:cNvPr id="7" name="Rectangle 6"/>
          <p:cNvSpPr/>
          <p:nvPr/>
        </p:nvSpPr>
        <p:spPr>
          <a:xfrm>
            <a:off x="4211726" y="1783080"/>
            <a:ext cx="1751990" cy="457200"/>
          </a:xfrm>
          <a:prstGeom prst="rect">
            <a:avLst/>
          </a:prstGeom>
          <a:solidFill>
            <a:srgbClr val="3A7D7B"/>
          </a:solidFill>
          <a:ln>
            <a:noFill/>
          </a:ln>
          <a:effectLst/>
        </p:spPr>
        <p:txBody>
          <a:bodyPr rtlCol="0" anchor="ctr"/>
          <a:lstStyle/>
          <a:p>
            <a:pPr algn="ctr"/>
          </a:p>
        </p:txBody>
      </p:sp>
      <p:sp>
        <p:nvSpPr>
          <p:cNvPr id="8" name="TextBox 7"/>
          <p:cNvSpPr txBox="1"/>
          <p:nvPr/>
        </p:nvSpPr>
        <p:spPr>
          <a:xfrm>
            <a:off x="4211726" y="1783080"/>
            <a:ext cx="1751990" cy="457200"/>
          </a:xfrm>
          <a:prstGeom prst="rect">
            <a:avLst/>
          </a:prstGeom>
          <a:noFill/>
        </p:spPr>
        <p:txBody>
          <a:bodyPr wrap="square" anchor="ctr">
            <a:spAutoFit/>
          </a:bodyPr>
          <a:lstStyle/>
          <a:p>
            <a:pPr algn="ctr">
              <a:spcAft>
                <a:spcPts val="400"/>
              </a:spcAft>
            </a:pPr>
            <a:r>
              <a:rPr sz="1500" b="1">
                <a:solidFill>
                  <a:srgbClr val="FFFFFF"/>
                </a:solidFill>
                <a:latin typeface="Calibri"/>
              </a:rPr>
              <a:t>Insert</a:t>
            </a:r>
          </a:p>
        </p:txBody>
      </p:sp>
      <p:sp>
        <p:nvSpPr>
          <p:cNvPr id="9" name="Rectangle 8"/>
          <p:cNvSpPr/>
          <p:nvPr/>
        </p:nvSpPr>
        <p:spPr>
          <a:xfrm>
            <a:off x="6018580" y="1783080"/>
            <a:ext cx="1751990" cy="457200"/>
          </a:xfrm>
          <a:prstGeom prst="rect">
            <a:avLst/>
          </a:prstGeom>
          <a:solidFill>
            <a:srgbClr val="5B4B8A"/>
          </a:solidFill>
          <a:ln>
            <a:noFill/>
          </a:ln>
          <a:effectLst/>
        </p:spPr>
        <p:txBody>
          <a:bodyPr rtlCol="0" anchor="ctr"/>
          <a:lstStyle/>
          <a:p>
            <a:pPr algn="ctr"/>
          </a:p>
        </p:txBody>
      </p:sp>
      <p:sp>
        <p:nvSpPr>
          <p:cNvPr id="10" name="TextBox 9"/>
          <p:cNvSpPr txBox="1"/>
          <p:nvPr/>
        </p:nvSpPr>
        <p:spPr>
          <a:xfrm>
            <a:off x="6018580" y="1783080"/>
            <a:ext cx="1751990" cy="457200"/>
          </a:xfrm>
          <a:prstGeom prst="rect">
            <a:avLst/>
          </a:prstGeom>
          <a:noFill/>
        </p:spPr>
        <p:txBody>
          <a:bodyPr wrap="square" anchor="ctr">
            <a:spAutoFit/>
          </a:bodyPr>
          <a:lstStyle/>
          <a:p>
            <a:pPr algn="ctr">
              <a:spcAft>
                <a:spcPts val="400"/>
              </a:spcAft>
            </a:pPr>
            <a:r>
              <a:rPr sz="1500" b="1">
                <a:solidFill>
                  <a:srgbClr val="FFFFFF"/>
                </a:solidFill>
                <a:latin typeface="Calibri"/>
              </a:rPr>
              <a:t>Action</a:t>
            </a:r>
          </a:p>
        </p:txBody>
      </p:sp>
      <p:sp>
        <p:nvSpPr>
          <p:cNvPr id="11" name="Rectangle 10"/>
          <p:cNvSpPr/>
          <p:nvPr/>
        </p:nvSpPr>
        <p:spPr>
          <a:xfrm>
            <a:off x="7825434" y="1783080"/>
            <a:ext cx="1751990" cy="457200"/>
          </a:xfrm>
          <a:prstGeom prst="rect">
            <a:avLst/>
          </a:prstGeom>
          <a:solidFill>
            <a:srgbClr val="C2603F"/>
          </a:solidFill>
          <a:ln>
            <a:noFill/>
          </a:ln>
          <a:effectLst/>
        </p:spPr>
        <p:txBody>
          <a:bodyPr rtlCol="0" anchor="ctr"/>
          <a:lstStyle/>
          <a:p>
            <a:pPr algn="ctr"/>
          </a:p>
        </p:txBody>
      </p:sp>
      <p:sp>
        <p:nvSpPr>
          <p:cNvPr id="12" name="TextBox 11"/>
          <p:cNvSpPr txBox="1"/>
          <p:nvPr/>
        </p:nvSpPr>
        <p:spPr>
          <a:xfrm>
            <a:off x="7825434" y="1783080"/>
            <a:ext cx="1751990" cy="457200"/>
          </a:xfrm>
          <a:prstGeom prst="rect">
            <a:avLst/>
          </a:prstGeom>
          <a:noFill/>
        </p:spPr>
        <p:txBody>
          <a:bodyPr wrap="square" anchor="ctr">
            <a:spAutoFit/>
          </a:bodyPr>
          <a:lstStyle/>
          <a:p>
            <a:pPr algn="ctr">
              <a:spcAft>
                <a:spcPts val="400"/>
              </a:spcAft>
            </a:pPr>
            <a:r>
              <a:rPr sz="1500" b="1">
                <a:solidFill>
                  <a:srgbClr val="FFFFFF"/>
                </a:solidFill>
                <a:latin typeface="Calibri"/>
              </a:rPr>
              <a:t>=AI function</a:t>
            </a:r>
          </a:p>
        </p:txBody>
      </p:sp>
      <p:sp>
        <p:nvSpPr>
          <p:cNvPr id="13" name="Rectangle 12"/>
          <p:cNvSpPr/>
          <p:nvPr/>
        </p:nvSpPr>
        <p:spPr>
          <a:xfrm>
            <a:off x="9632288" y="1783080"/>
            <a:ext cx="1751990" cy="457200"/>
          </a:xfrm>
          <a:prstGeom prst="rect">
            <a:avLst/>
          </a:prstGeom>
          <a:solidFill>
            <a:srgbClr val="D97757"/>
          </a:solidFill>
          <a:ln>
            <a:noFill/>
          </a:ln>
          <a:effectLst/>
        </p:spPr>
        <p:txBody>
          <a:bodyPr rtlCol="0" anchor="ctr"/>
          <a:lstStyle/>
          <a:p>
            <a:pPr algn="ctr"/>
          </a:p>
        </p:txBody>
      </p:sp>
      <p:sp>
        <p:nvSpPr>
          <p:cNvPr id="14" name="TextBox 13"/>
          <p:cNvSpPr txBox="1"/>
          <p:nvPr/>
        </p:nvSpPr>
        <p:spPr>
          <a:xfrm>
            <a:off x="9632288" y="1783080"/>
            <a:ext cx="1751990" cy="457200"/>
          </a:xfrm>
          <a:prstGeom prst="rect">
            <a:avLst/>
          </a:prstGeom>
          <a:noFill/>
        </p:spPr>
        <p:txBody>
          <a:bodyPr wrap="square" anchor="ctr">
            <a:spAutoFit/>
          </a:bodyPr>
          <a:lstStyle/>
          <a:p>
            <a:pPr algn="ctr">
              <a:spcAft>
                <a:spcPts val="400"/>
              </a:spcAft>
            </a:pPr>
            <a:r>
              <a:rPr sz="1500" b="1">
                <a:solidFill>
                  <a:srgbClr val="FFFFFF"/>
                </a:solidFill>
                <a:latin typeface="Calibri"/>
              </a:rPr>
              <a:t>Gem</a:t>
            </a:r>
          </a:p>
        </p:txBody>
      </p:sp>
      <p:sp>
        <p:nvSpPr>
          <p:cNvPr id="15" name="Rounded Rectangle 14"/>
          <p:cNvSpPr/>
          <p:nvPr/>
        </p:nvSpPr>
        <p:spPr>
          <a:xfrm>
            <a:off x="777240" y="2295144"/>
            <a:ext cx="10634472" cy="9829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TextBox 15"/>
          <p:cNvSpPr txBox="1"/>
          <p:nvPr/>
        </p:nvSpPr>
        <p:spPr>
          <a:xfrm>
            <a:off x="886968" y="2295144"/>
            <a:ext cx="1453896" cy="982980"/>
          </a:xfrm>
          <a:prstGeom prst="rect">
            <a:avLst/>
          </a:prstGeom>
          <a:noFill/>
        </p:spPr>
        <p:txBody>
          <a:bodyPr wrap="square" anchor="ctr">
            <a:spAutoFit/>
          </a:bodyPr>
          <a:lstStyle/>
          <a:p>
            <a:pPr algn="l">
              <a:spcAft>
                <a:spcPts val="400"/>
              </a:spcAft>
            </a:pPr>
            <a:r>
              <a:rPr sz="1250" b="1">
                <a:solidFill>
                  <a:srgbClr val="21201C"/>
                </a:solidFill>
                <a:latin typeface="Calibri"/>
              </a:rPr>
              <a:t>What you do</a:t>
            </a:r>
          </a:p>
        </p:txBody>
      </p:sp>
      <p:sp>
        <p:nvSpPr>
          <p:cNvPr id="17" name="TextBox 16"/>
          <p:cNvSpPr txBox="1"/>
          <p:nvPr/>
        </p:nvSpPr>
        <p:spPr>
          <a:xfrm>
            <a:off x="2487168" y="229514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Ask a question</a:t>
            </a:r>
          </a:p>
        </p:txBody>
      </p:sp>
      <p:sp>
        <p:nvSpPr>
          <p:cNvPr id="18" name="TextBox 17"/>
          <p:cNvSpPr txBox="1"/>
          <p:nvPr/>
        </p:nvSpPr>
        <p:spPr>
          <a:xfrm>
            <a:off x="4294022" y="229514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Ask, then click Insert</a:t>
            </a:r>
          </a:p>
        </p:txBody>
      </p:sp>
      <p:sp>
        <p:nvSpPr>
          <p:cNvPr id="19" name="TextBox 18"/>
          <p:cNvSpPr txBox="1"/>
          <p:nvPr/>
        </p:nvSpPr>
        <p:spPr>
          <a:xfrm>
            <a:off x="6100876" y="229514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Ask, then click Apply</a:t>
            </a:r>
          </a:p>
        </p:txBody>
      </p:sp>
      <p:sp>
        <p:nvSpPr>
          <p:cNvPr id="20" name="TextBox 19"/>
          <p:cNvSpPr txBox="1"/>
          <p:nvPr/>
        </p:nvSpPr>
        <p:spPr>
          <a:xfrm>
            <a:off x="7907730" y="229514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Type =AI(...) in a cell</a:t>
            </a:r>
          </a:p>
        </p:txBody>
      </p:sp>
      <p:sp>
        <p:nvSpPr>
          <p:cNvPr id="21" name="TextBox 20"/>
          <p:cNvSpPr txBox="1"/>
          <p:nvPr/>
        </p:nvSpPr>
        <p:spPr>
          <a:xfrm>
            <a:off x="9714584" y="229514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Pick your Gem in the panel</a:t>
            </a:r>
          </a:p>
        </p:txBody>
      </p:sp>
      <p:sp>
        <p:nvSpPr>
          <p:cNvPr id="22" name="TextBox 21"/>
          <p:cNvSpPr txBox="1"/>
          <p:nvPr/>
        </p:nvSpPr>
        <p:spPr>
          <a:xfrm>
            <a:off x="886968" y="3278124"/>
            <a:ext cx="1453896" cy="982980"/>
          </a:xfrm>
          <a:prstGeom prst="rect">
            <a:avLst/>
          </a:prstGeom>
          <a:noFill/>
        </p:spPr>
        <p:txBody>
          <a:bodyPr wrap="square" anchor="ctr">
            <a:spAutoFit/>
          </a:bodyPr>
          <a:lstStyle/>
          <a:p>
            <a:pPr algn="l">
              <a:spcAft>
                <a:spcPts val="400"/>
              </a:spcAft>
            </a:pPr>
            <a:r>
              <a:rPr sz="1250" b="1">
                <a:solidFill>
                  <a:srgbClr val="21201C"/>
                </a:solidFill>
                <a:latin typeface="Calibri"/>
              </a:rPr>
              <a:t>Changes the sheet?</a:t>
            </a:r>
          </a:p>
        </p:txBody>
      </p:sp>
      <p:sp>
        <p:nvSpPr>
          <p:cNvPr id="23" name="TextBox 22"/>
          <p:cNvSpPr txBox="1"/>
          <p:nvPr/>
        </p:nvSpPr>
        <p:spPr>
          <a:xfrm>
            <a:off x="2487168" y="327812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No</a:t>
            </a:r>
          </a:p>
        </p:txBody>
      </p:sp>
      <p:sp>
        <p:nvSpPr>
          <p:cNvPr id="24" name="TextBox 23"/>
          <p:cNvSpPr txBox="1"/>
          <p:nvPr/>
        </p:nvSpPr>
        <p:spPr>
          <a:xfrm>
            <a:off x="4294022" y="327812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Yes, when you insert</a:t>
            </a:r>
          </a:p>
        </p:txBody>
      </p:sp>
      <p:sp>
        <p:nvSpPr>
          <p:cNvPr id="25" name="TextBox 24"/>
          <p:cNvSpPr txBox="1"/>
          <p:nvPr/>
        </p:nvSpPr>
        <p:spPr>
          <a:xfrm>
            <a:off x="6100876" y="327812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Yes - Undo available</a:t>
            </a:r>
          </a:p>
        </p:txBody>
      </p:sp>
      <p:sp>
        <p:nvSpPr>
          <p:cNvPr id="26" name="TextBox 25"/>
          <p:cNvSpPr txBox="1"/>
          <p:nvPr/>
        </p:nvSpPr>
        <p:spPr>
          <a:xfrm>
            <a:off x="7907730" y="327812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Yes, when you generate</a:t>
            </a:r>
          </a:p>
        </p:txBody>
      </p:sp>
      <p:sp>
        <p:nvSpPr>
          <p:cNvPr id="27" name="TextBox 26"/>
          <p:cNvSpPr txBox="1"/>
          <p:nvPr/>
        </p:nvSpPr>
        <p:spPr>
          <a:xfrm>
            <a:off x="9714584" y="327812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Only if you insert</a:t>
            </a:r>
          </a:p>
        </p:txBody>
      </p:sp>
      <p:sp>
        <p:nvSpPr>
          <p:cNvPr id="28" name="Rounded Rectangle 27"/>
          <p:cNvSpPr/>
          <p:nvPr/>
        </p:nvSpPr>
        <p:spPr>
          <a:xfrm>
            <a:off x="777240" y="4261104"/>
            <a:ext cx="10634472" cy="9829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9" name="TextBox 28"/>
          <p:cNvSpPr txBox="1"/>
          <p:nvPr/>
        </p:nvSpPr>
        <p:spPr>
          <a:xfrm>
            <a:off x="886968" y="4261104"/>
            <a:ext cx="1453896" cy="982980"/>
          </a:xfrm>
          <a:prstGeom prst="rect">
            <a:avLst/>
          </a:prstGeom>
          <a:noFill/>
        </p:spPr>
        <p:txBody>
          <a:bodyPr wrap="square" anchor="ctr">
            <a:spAutoFit/>
          </a:bodyPr>
          <a:lstStyle/>
          <a:p>
            <a:pPr algn="l">
              <a:spcAft>
                <a:spcPts val="400"/>
              </a:spcAft>
            </a:pPr>
            <a:r>
              <a:rPr sz="1250" b="1">
                <a:solidFill>
                  <a:srgbClr val="21201C"/>
                </a:solidFill>
                <a:latin typeface="Calibri"/>
              </a:rPr>
              <a:t>Best for</a:t>
            </a:r>
          </a:p>
        </p:txBody>
      </p:sp>
      <p:sp>
        <p:nvSpPr>
          <p:cNvPr id="30" name="TextBox 29"/>
          <p:cNvSpPr txBox="1"/>
          <p:nvPr/>
        </p:nvSpPr>
        <p:spPr>
          <a:xfrm>
            <a:off x="2487168" y="426110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Questions, insights</a:t>
            </a:r>
          </a:p>
        </p:txBody>
      </p:sp>
      <p:sp>
        <p:nvSpPr>
          <p:cNvPr id="31" name="TextBox 30"/>
          <p:cNvSpPr txBox="1"/>
          <p:nvPr/>
        </p:nvSpPr>
        <p:spPr>
          <a:xfrm>
            <a:off x="4294022" y="426110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Tables, formulas, charts</a:t>
            </a:r>
          </a:p>
        </p:txBody>
      </p:sp>
      <p:sp>
        <p:nvSpPr>
          <p:cNvPr id="32" name="TextBox 31"/>
          <p:cNvSpPr txBox="1"/>
          <p:nvPr/>
        </p:nvSpPr>
        <p:spPr>
          <a:xfrm>
            <a:off x="6100876" y="426110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Formatting, pivots, sort/filter</a:t>
            </a:r>
          </a:p>
        </p:txBody>
      </p:sp>
      <p:sp>
        <p:nvSpPr>
          <p:cNvPr id="33" name="TextBox 32"/>
          <p:cNvSpPr txBox="1"/>
          <p:nvPr/>
        </p:nvSpPr>
        <p:spPr>
          <a:xfrm>
            <a:off x="7907730" y="426110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Row-by-row text</a:t>
            </a:r>
          </a:p>
        </p:txBody>
      </p:sp>
      <p:sp>
        <p:nvSpPr>
          <p:cNvPr id="34" name="TextBox 33"/>
          <p:cNvSpPr txBox="1"/>
          <p:nvPr/>
        </p:nvSpPr>
        <p:spPr>
          <a:xfrm>
            <a:off x="9714584" y="426110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Repeatable expert tasks</a:t>
            </a:r>
          </a:p>
        </p:txBody>
      </p:sp>
      <p:sp>
        <p:nvSpPr>
          <p:cNvPr id="35" name="TextBox 34"/>
          <p:cNvSpPr txBox="1"/>
          <p:nvPr/>
        </p:nvSpPr>
        <p:spPr>
          <a:xfrm>
            <a:off x="886968" y="5244084"/>
            <a:ext cx="1453896" cy="982980"/>
          </a:xfrm>
          <a:prstGeom prst="rect">
            <a:avLst/>
          </a:prstGeom>
          <a:noFill/>
        </p:spPr>
        <p:txBody>
          <a:bodyPr wrap="square" anchor="ctr">
            <a:spAutoFit/>
          </a:bodyPr>
          <a:lstStyle/>
          <a:p>
            <a:pPr algn="l">
              <a:spcAft>
                <a:spcPts val="400"/>
              </a:spcAft>
            </a:pPr>
            <a:r>
              <a:rPr sz="1250" b="1">
                <a:solidFill>
                  <a:srgbClr val="21201C"/>
                </a:solidFill>
                <a:latin typeface="Calibri"/>
              </a:rPr>
              <a:t>Lab</a:t>
            </a:r>
          </a:p>
        </p:txBody>
      </p:sp>
      <p:sp>
        <p:nvSpPr>
          <p:cNvPr id="36" name="TextBox 35"/>
          <p:cNvSpPr txBox="1"/>
          <p:nvPr/>
        </p:nvSpPr>
        <p:spPr>
          <a:xfrm>
            <a:off x="2487168" y="524408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1, 7</a:t>
            </a:r>
          </a:p>
        </p:txBody>
      </p:sp>
      <p:sp>
        <p:nvSpPr>
          <p:cNvPr id="37" name="TextBox 36"/>
          <p:cNvSpPr txBox="1"/>
          <p:nvPr/>
        </p:nvSpPr>
        <p:spPr>
          <a:xfrm>
            <a:off x="4294022" y="524408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1, 5, 8</a:t>
            </a:r>
          </a:p>
        </p:txBody>
      </p:sp>
      <p:sp>
        <p:nvSpPr>
          <p:cNvPr id="38" name="TextBox 37"/>
          <p:cNvSpPr txBox="1"/>
          <p:nvPr/>
        </p:nvSpPr>
        <p:spPr>
          <a:xfrm>
            <a:off x="6100876" y="524408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2, 3, 5</a:t>
            </a:r>
          </a:p>
        </p:txBody>
      </p:sp>
      <p:sp>
        <p:nvSpPr>
          <p:cNvPr id="39" name="TextBox 38"/>
          <p:cNvSpPr txBox="1"/>
          <p:nvPr/>
        </p:nvSpPr>
        <p:spPr>
          <a:xfrm>
            <a:off x="7907730" y="524408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6</a:t>
            </a:r>
          </a:p>
        </p:txBody>
      </p:sp>
      <p:sp>
        <p:nvSpPr>
          <p:cNvPr id="40" name="TextBox 39"/>
          <p:cNvSpPr txBox="1"/>
          <p:nvPr/>
        </p:nvSpPr>
        <p:spPr>
          <a:xfrm>
            <a:off x="9714584" y="5244084"/>
            <a:ext cx="1587398" cy="982980"/>
          </a:xfrm>
          <a:prstGeom prst="rect">
            <a:avLst/>
          </a:prstGeom>
          <a:noFill/>
        </p:spPr>
        <p:txBody>
          <a:bodyPr wrap="square" anchor="ctr">
            <a:spAutoFit/>
          </a:bodyPr>
          <a:lstStyle/>
          <a:p>
            <a:pPr algn="l">
              <a:spcAft>
                <a:spcPts val="400"/>
              </a:spcAft>
            </a:pPr>
            <a:r>
              <a:rPr sz="1200" b="0">
                <a:solidFill>
                  <a:srgbClr val="21201C"/>
                </a:solidFill>
                <a:latin typeface="Calibri"/>
              </a:rPr>
              <a:t>11</a:t>
            </a:r>
          </a:p>
        </p:txBody>
      </p:sp>
      <p:sp>
        <p:nvSpPr>
          <p:cNvPr id="41" name="TextBox 4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42" name="TextBox 4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43" name="TextBox 4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Prompting Gemini and the Side Panel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prompt names the tab, columns, task and output. The panel adds sources, Insert, Retry, Undo and history.</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Precise prompts give precise answers; history is lost on reload, so insert what matters.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Does your prompt say which tab, which columns and what the output should look like?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Gemini — Prompting Gemini and the Side Panel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Using the Applications and Jobs tabs, make a table of applications and Openings per Position.</a:t>
            </a:r>
          </a:p>
          <a:p>
            <a:pPr>
              <a:spcAft>
                <a:spcPts val="1000"/>
              </a:spcAft>
            </a:pPr>
            <a:r>
              <a:rPr sz="1600" b="0">
                <a:solidFill>
                  <a:srgbClr val="21201C"/>
                </a:solidFill>
                <a:latin typeface="Calibri"/>
              </a:rPr>
              <a:t>•  Follow-up: add Applications_per_Opening and sort high to low.</a:t>
            </a:r>
          </a:p>
          <a:p>
            <a:pPr>
              <a:spcAft>
                <a:spcPts val="1000"/>
              </a:spcAft>
            </a:pPr>
            <a:r>
              <a:rPr sz="1600" b="0">
                <a:solidFill>
                  <a:srgbClr val="21201C"/>
                </a:solidFill>
                <a:latin typeface="Calibri"/>
              </a:rPr>
              <a:t>•  Then click Insert.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The table has 8 positions.</a:t>
            </a:r>
          </a:p>
          <a:p>
            <a:pPr>
              <a:spcAft>
                <a:spcPts val="1000"/>
              </a:spcAft>
            </a:pPr>
            <a:r>
              <a:rPr sz="1600" b="0">
                <a:solidFill>
                  <a:srgbClr val="21201C"/>
                </a:solidFill>
                <a:latin typeface="Calibri"/>
              </a:rPr>
              <a:t>•  It survives a page reload.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Gemini Panel Controls at a Glance</a:t>
            </a:r>
          </a:p>
        </p:txBody>
      </p:sp>
      <p:sp>
        <p:nvSpPr>
          <p:cNvPr id="5" name="Rectangle 4"/>
          <p:cNvSpPr/>
          <p:nvPr/>
        </p:nvSpPr>
        <p:spPr>
          <a:xfrm>
            <a:off x="1963254" y="1792224"/>
            <a:ext cx="8265187" cy="4224528"/>
          </a:xfrm>
          <a:prstGeom prst="rect">
            <a:avLst/>
          </a:prstGeom>
          <a:solidFill>
            <a:srgbClr val="DCD8CF"/>
          </a:solidFill>
          <a:ln>
            <a:noFill/>
          </a:ln>
          <a:effectLst/>
        </p:spPr>
        <p:txBody>
          <a:bodyPr rtlCol="0" anchor="ctr"/>
          <a:lstStyle/>
          <a:p>
            <a:pPr algn="ctr"/>
          </a:p>
        </p:txBody>
      </p:sp>
      <p:pic>
        <p:nvPicPr>
          <p:cNvPr id="6" name="Picture 5" descr="gemini-controls.png"/>
          <p:cNvPicPr>
            <a:picLocks noChangeAspect="1"/>
          </p:cNvPicPr>
          <p:nvPr/>
        </p:nvPicPr>
        <p:blipFill>
          <a:blip r:embed="rId2"/>
          <a:stretch>
            <a:fillRect/>
          </a:stretch>
        </p:blipFill>
        <p:spPr>
          <a:xfrm>
            <a:off x="2018118" y="1847088"/>
            <a:ext cx="8155459" cy="4114800"/>
          </a:xfrm>
          <a:prstGeom prst="rect">
            <a:avLst/>
          </a:prstGeom>
        </p:spPr>
      </p:pic>
      <p:sp>
        <p:nvSpPr>
          <p:cNvPr id="7" name="TextBox 6"/>
          <p:cNvSpPr txBox="1"/>
          <p:nvPr/>
        </p:nvSpPr>
        <p:spPr>
          <a:xfrm>
            <a:off x="777240" y="6053328"/>
            <a:ext cx="10607040" cy="365760"/>
          </a:xfrm>
          <a:prstGeom prst="rect">
            <a:avLst/>
          </a:prstGeom>
          <a:noFill/>
        </p:spPr>
        <p:txBody>
          <a:bodyPr wrap="square" anchor="t">
            <a:spAutoFit/>
          </a:bodyPr>
          <a:lstStyle/>
          <a:p>
            <a:pPr algn="ctr">
              <a:spcAft>
                <a:spcPts val="400"/>
              </a:spcAft>
            </a:pPr>
            <a:r>
              <a:rPr sz="1200" b="0">
                <a:solidFill>
                  <a:srgbClr val="6B6862"/>
                </a:solidFill>
                <a:latin typeface="Calibri"/>
              </a:rPr>
              <a:t>The controls from Google's Explore Gemini in Sheets table.   Screenshot: Google Docs Editors Help - Collaborate with Gemini in Google Sheets</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INTERFACE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Gemini Side Panel — What Each Part Does</a:t>
            </a:r>
          </a:p>
        </p:txBody>
      </p:sp>
      <p:sp>
        <p:nvSpPr>
          <p:cNvPr id="5" name="Rectangle 4"/>
          <p:cNvSpPr/>
          <p:nvPr/>
        </p:nvSpPr>
        <p:spPr>
          <a:xfrm>
            <a:off x="731520" y="1764792"/>
            <a:ext cx="6284368" cy="4069079"/>
          </a:xfrm>
          <a:prstGeom prst="rect">
            <a:avLst/>
          </a:prstGeom>
          <a:solidFill>
            <a:srgbClr val="DCD8CF"/>
          </a:solidFill>
          <a:ln>
            <a:noFill/>
          </a:ln>
          <a:effectLst/>
        </p:spPr>
        <p:txBody>
          <a:bodyPr rtlCol="0" anchor="ctr"/>
          <a:lstStyle/>
          <a:p>
            <a:pPr algn="ctr"/>
          </a:p>
        </p:txBody>
      </p:sp>
      <p:pic>
        <p:nvPicPr>
          <p:cNvPr id="6" name="Picture 5" descr="gemini-side-panel.png"/>
          <p:cNvPicPr>
            <a:picLocks noChangeAspect="1"/>
          </p:cNvPicPr>
          <p:nvPr/>
        </p:nvPicPr>
        <p:blipFill>
          <a:blip r:embed="rId2"/>
          <a:stretch>
            <a:fillRect/>
          </a:stretch>
        </p:blipFill>
        <p:spPr>
          <a:xfrm>
            <a:off x="777240" y="1810512"/>
            <a:ext cx="6192929" cy="3977639"/>
          </a:xfrm>
          <a:prstGeom prst="rect">
            <a:avLst/>
          </a:prstGeom>
        </p:spPr>
      </p:pic>
      <p:sp>
        <p:nvSpPr>
          <p:cNvPr id="7" name="TextBox 6"/>
          <p:cNvSpPr txBox="1"/>
          <p:nvPr/>
        </p:nvSpPr>
        <p:spPr>
          <a:xfrm>
            <a:off x="777240" y="5897879"/>
            <a:ext cx="6192928" cy="320040"/>
          </a:xfrm>
          <a:prstGeom prst="rect">
            <a:avLst/>
          </a:prstGeom>
          <a:noFill/>
        </p:spPr>
        <p:txBody>
          <a:bodyPr wrap="square" anchor="t">
            <a:spAutoFit/>
          </a:bodyPr>
          <a:lstStyle/>
          <a:p>
            <a:pPr algn="ctr">
              <a:spcAft>
                <a:spcPts val="400"/>
              </a:spcAft>
            </a:pPr>
            <a:r>
              <a:rPr sz="1100" b="0">
                <a:solidFill>
                  <a:srgbClr val="6B6862"/>
                </a:solidFill>
                <a:latin typeface="Calibri"/>
              </a:rPr>
              <a:t>Screenshot: Google Docs Editors Help - Collaborate with Gemini in Google Sheets</a:t>
            </a:r>
          </a:p>
        </p:txBody>
      </p:sp>
      <p:sp>
        <p:nvSpPr>
          <p:cNvPr id="8" name="Rounded Rectangle 7"/>
          <p:cNvSpPr/>
          <p:nvPr/>
        </p:nvSpPr>
        <p:spPr>
          <a:xfrm>
            <a:off x="7335928" y="1810512"/>
            <a:ext cx="4075784" cy="70774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335928" y="1810512"/>
            <a:ext cx="4075784" cy="64008"/>
          </a:xfrm>
          <a:prstGeom prst="rect">
            <a:avLst/>
          </a:prstGeom>
          <a:solidFill>
            <a:srgbClr val="D97757"/>
          </a:solidFill>
          <a:ln>
            <a:noFill/>
          </a:ln>
          <a:effectLst/>
        </p:spPr>
        <p:txBody>
          <a:bodyPr rtlCol="0" anchor="ctr"/>
          <a:lstStyle/>
          <a:p>
            <a:pPr algn="ctr"/>
          </a:p>
        </p:txBody>
      </p:sp>
      <p:sp>
        <p:nvSpPr>
          <p:cNvPr id="10" name="Oval 9"/>
          <p:cNvSpPr/>
          <p:nvPr/>
        </p:nvSpPr>
        <p:spPr>
          <a:xfrm>
            <a:off x="7518808" y="1972360"/>
            <a:ext cx="384048" cy="384048"/>
          </a:xfrm>
          <a:prstGeom prst="ellipse">
            <a:avLst/>
          </a:prstGeom>
          <a:solidFill>
            <a:srgbClr val="D97757"/>
          </a:solidFill>
          <a:ln>
            <a:noFill/>
          </a:ln>
          <a:effectLst/>
        </p:spPr>
        <p:txBody>
          <a:bodyPr rtlCol="0" anchor="ctr"/>
          <a:lstStyle/>
          <a:p>
            <a:pPr algn="ctr"/>
          </a:p>
        </p:txBody>
      </p:sp>
      <p:sp>
        <p:nvSpPr>
          <p:cNvPr id="11" name="TextBox 10"/>
          <p:cNvSpPr txBox="1"/>
          <p:nvPr/>
        </p:nvSpPr>
        <p:spPr>
          <a:xfrm>
            <a:off x="7518808" y="1972360"/>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2" name="TextBox 11"/>
          <p:cNvSpPr txBox="1"/>
          <p:nvPr/>
        </p:nvSpPr>
        <p:spPr>
          <a:xfrm>
            <a:off x="8067448" y="1810512"/>
            <a:ext cx="3161384" cy="707745"/>
          </a:xfrm>
          <a:prstGeom prst="rect">
            <a:avLst/>
          </a:prstGeom>
          <a:noFill/>
        </p:spPr>
        <p:txBody>
          <a:bodyPr wrap="square" anchor="ctr">
            <a:spAutoFit/>
          </a:bodyPr>
          <a:lstStyle/>
          <a:p>
            <a:pPr algn="l">
              <a:spcAft>
                <a:spcPts val="200"/>
              </a:spcAft>
            </a:pPr>
            <a:r>
              <a:rPr sz="1400" b="1">
                <a:solidFill>
                  <a:srgbClr val="21201C"/>
                </a:solidFill>
                <a:latin typeface="Calibri"/>
              </a:rPr>
              <a:t>Ask Gemini (spark)</a:t>
            </a:r>
          </a:p>
          <a:p>
            <a:pPr algn="l">
              <a:spcAft>
                <a:spcPts val="200"/>
              </a:spcAft>
            </a:pPr>
            <a:r>
              <a:rPr sz="1200" b="0">
                <a:solidFill>
                  <a:srgbClr val="6B6862"/>
                </a:solidFill>
                <a:latin typeface="Calibri"/>
              </a:rPr>
              <a:t>Top right of Sheets. Opens the panel with a summary of the sheet.</a:t>
            </a:r>
          </a:p>
        </p:txBody>
      </p:sp>
      <p:sp>
        <p:nvSpPr>
          <p:cNvPr id="13" name="Rounded Rectangle 12"/>
          <p:cNvSpPr/>
          <p:nvPr/>
        </p:nvSpPr>
        <p:spPr>
          <a:xfrm>
            <a:off x="7335928" y="2627985"/>
            <a:ext cx="4075784" cy="70774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335928" y="2627985"/>
            <a:ext cx="4075784" cy="64008"/>
          </a:xfrm>
          <a:prstGeom prst="rect">
            <a:avLst/>
          </a:prstGeom>
          <a:solidFill>
            <a:srgbClr val="3A7D7B"/>
          </a:solidFill>
          <a:ln>
            <a:noFill/>
          </a:ln>
          <a:effectLst/>
        </p:spPr>
        <p:txBody>
          <a:bodyPr rtlCol="0" anchor="ctr"/>
          <a:lstStyle/>
          <a:p>
            <a:pPr algn="ctr"/>
          </a:p>
        </p:txBody>
      </p:sp>
      <p:sp>
        <p:nvSpPr>
          <p:cNvPr id="15" name="Oval 14"/>
          <p:cNvSpPr/>
          <p:nvPr/>
        </p:nvSpPr>
        <p:spPr>
          <a:xfrm>
            <a:off x="7518808" y="2789833"/>
            <a:ext cx="384048" cy="384048"/>
          </a:xfrm>
          <a:prstGeom prst="ellipse">
            <a:avLst/>
          </a:prstGeom>
          <a:solidFill>
            <a:srgbClr val="3A7D7B"/>
          </a:solidFill>
          <a:ln>
            <a:noFill/>
          </a:ln>
          <a:effectLst/>
        </p:spPr>
        <p:txBody>
          <a:bodyPr rtlCol="0" anchor="ctr"/>
          <a:lstStyle/>
          <a:p>
            <a:pPr algn="ctr"/>
          </a:p>
        </p:txBody>
      </p:sp>
      <p:sp>
        <p:nvSpPr>
          <p:cNvPr id="16" name="TextBox 15"/>
          <p:cNvSpPr txBox="1"/>
          <p:nvPr/>
        </p:nvSpPr>
        <p:spPr>
          <a:xfrm>
            <a:off x="7518808" y="2789833"/>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7" name="TextBox 16"/>
          <p:cNvSpPr txBox="1"/>
          <p:nvPr/>
        </p:nvSpPr>
        <p:spPr>
          <a:xfrm>
            <a:off x="8067448" y="2627985"/>
            <a:ext cx="3161384" cy="707745"/>
          </a:xfrm>
          <a:prstGeom prst="rect">
            <a:avLst/>
          </a:prstGeom>
          <a:noFill/>
        </p:spPr>
        <p:txBody>
          <a:bodyPr wrap="square" anchor="ctr">
            <a:spAutoFit/>
          </a:bodyPr>
          <a:lstStyle/>
          <a:p>
            <a:pPr algn="l">
              <a:spcAft>
                <a:spcPts val="200"/>
              </a:spcAft>
            </a:pPr>
            <a:r>
              <a:rPr sz="1400" b="1">
                <a:solidFill>
                  <a:srgbClr val="21201C"/>
                </a:solidFill>
                <a:latin typeface="Calibri"/>
              </a:rPr>
              <a:t>Suggestions and Gems</a:t>
            </a:r>
          </a:p>
          <a:p>
            <a:pPr algn="l">
              <a:spcAft>
                <a:spcPts val="200"/>
              </a:spcAft>
            </a:pPr>
            <a:r>
              <a:rPr sz="1200" b="0">
                <a:solidFill>
                  <a:srgbClr val="6B6862"/>
                </a:solidFill>
                <a:latin typeface="Calibri"/>
              </a:rPr>
              <a:t>Suggested prompts (More suggestions for others) and premade or custom Gems.</a:t>
            </a:r>
          </a:p>
        </p:txBody>
      </p:sp>
      <p:sp>
        <p:nvSpPr>
          <p:cNvPr id="18" name="Rounded Rectangle 17"/>
          <p:cNvSpPr/>
          <p:nvPr/>
        </p:nvSpPr>
        <p:spPr>
          <a:xfrm>
            <a:off x="7335928" y="3445458"/>
            <a:ext cx="4075784" cy="70774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9" name="Rectangle 18"/>
          <p:cNvSpPr/>
          <p:nvPr/>
        </p:nvSpPr>
        <p:spPr>
          <a:xfrm>
            <a:off x="7335928" y="3445458"/>
            <a:ext cx="4075784" cy="64008"/>
          </a:xfrm>
          <a:prstGeom prst="rect">
            <a:avLst/>
          </a:prstGeom>
          <a:solidFill>
            <a:srgbClr val="5B4B8A"/>
          </a:solidFill>
          <a:ln>
            <a:noFill/>
          </a:ln>
          <a:effectLst/>
        </p:spPr>
        <p:txBody>
          <a:bodyPr rtlCol="0" anchor="ctr"/>
          <a:lstStyle/>
          <a:p>
            <a:pPr algn="ctr"/>
          </a:p>
        </p:txBody>
      </p:sp>
      <p:sp>
        <p:nvSpPr>
          <p:cNvPr id="20" name="Oval 19"/>
          <p:cNvSpPr/>
          <p:nvPr/>
        </p:nvSpPr>
        <p:spPr>
          <a:xfrm>
            <a:off x="7518808" y="3607306"/>
            <a:ext cx="384048" cy="384048"/>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7518808" y="360730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2" name="TextBox 21"/>
          <p:cNvSpPr txBox="1"/>
          <p:nvPr/>
        </p:nvSpPr>
        <p:spPr>
          <a:xfrm>
            <a:off x="8067448" y="3445458"/>
            <a:ext cx="3161384" cy="707745"/>
          </a:xfrm>
          <a:prstGeom prst="rect">
            <a:avLst/>
          </a:prstGeom>
          <a:noFill/>
        </p:spPr>
        <p:txBody>
          <a:bodyPr wrap="square" anchor="ctr">
            <a:spAutoFit/>
          </a:bodyPr>
          <a:lstStyle/>
          <a:p>
            <a:pPr algn="l">
              <a:spcAft>
                <a:spcPts val="200"/>
              </a:spcAft>
            </a:pPr>
            <a:r>
              <a:rPr sz="1400" b="1">
                <a:solidFill>
                  <a:srgbClr val="21201C"/>
                </a:solidFill>
                <a:latin typeface="Calibri"/>
              </a:rPr>
              <a:t>Prompt box and sources</a:t>
            </a:r>
          </a:p>
          <a:p>
            <a:pPr algn="l">
              <a:spcAft>
                <a:spcPts val="200"/>
              </a:spcAft>
            </a:pPr>
            <a:r>
              <a:rPr sz="1200" b="0">
                <a:solidFill>
                  <a:srgbClr val="6B6862"/>
                </a:solidFill>
                <a:latin typeface="Calibri"/>
              </a:rPr>
              <a:t>Type a prompt; the sources dropdown picks which tabs Gemini uses.</a:t>
            </a:r>
          </a:p>
        </p:txBody>
      </p:sp>
      <p:sp>
        <p:nvSpPr>
          <p:cNvPr id="23" name="Rounded Rectangle 22"/>
          <p:cNvSpPr/>
          <p:nvPr/>
        </p:nvSpPr>
        <p:spPr>
          <a:xfrm>
            <a:off x="7335928" y="4262931"/>
            <a:ext cx="4075784" cy="70774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35928" y="4262931"/>
            <a:ext cx="4075784" cy="64008"/>
          </a:xfrm>
          <a:prstGeom prst="rect">
            <a:avLst/>
          </a:prstGeom>
          <a:solidFill>
            <a:srgbClr val="C2603F"/>
          </a:solidFill>
          <a:ln>
            <a:noFill/>
          </a:ln>
          <a:effectLst/>
        </p:spPr>
        <p:txBody>
          <a:bodyPr rtlCol="0" anchor="ctr"/>
          <a:lstStyle/>
          <a:p>
            <a:pPr algn="ctr"/>
          </a:p>
        </p:txBody>
      </p:sp>
      <p:sp>
        <p:nvSpPr>
          <p:cNvPr id="25" name="Oval 24"/>
          <p:cNvSpPr/>
          <p:nvPr/>
        </p:nvSpPr>
        <p:spPr>
          <a:xfrm>
            <a:off x="7518808" y="4424779"/>
            <a:ext cx="384048" cy="38404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7518808" y="442477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7" name="TextBox 26"/>
          <p:cNvSpPr txBox="1"/>
          <p:nvPr/>
        </p:nvSpPr>
        <p:spPr>
          <a:xfrm>
            <a:off x="8067448" y="4262931"/>
            <a:ext cx="3161384" cy="707745"/>
          </a:xfrm>
          <a:prstGeom prst="rect">
            <a:avLst/>
          </a:prstGeom>
          <a:noFill/>
        </p:spPr>
        <p:txBody>
          <a:bodyPr wrap="square" anchor="ctr">
            <a:spAutoFit/>
          </a:bodyPr>
          <a:lstStyle/>
          <a:p>
            <a:pPr algn="l">
              <a:spcAft>
                <a:spcPts val="200"/>
              </a:spcAft>
            </a:pPr>
            <a:r>
              <a:rPr sz="1400" b="1">
                <a:solidFill>
                  <a:srgbClr val="21201C"/>
                </a:solidFill>
                <a:latin typeface="Calibri"/>
              </a:rPr>
              <a:t>Response controls</a:t>
            </a:r>
          </a:p>
          <a:p>
            <a:pPr algn="l">
              <a:spcAft>
                <a:spcPts val="200"/>
              </a:spcAft>
            </a:pPr>
            <a:r>
              <a:rPr sz="1200" b="0">
                <a:solidFill>
                  <a:srgbClr val="6B6862"/>
                </a:solidFill>
                <a:latin typeface="Calibri"/>
              </a:rPr>
              <a:t>Insert, Copy, Retry, Preview, Analysis steps, Export to Docs, thumbs.</a:t>
            </a:r>
          </a:p>
        </p:txBody>
      </p:sp>
      <p:sp>
        <p:nvSpPr>
          <p:cNvPr id="28" name="Rounded Rectangle 27"/>
          <p:cNvSpPr/>
          <p:nvPr/>
        </p:nvSpPr>
        <p:spPr>
          <a:xfrm>
            <a:off x="7335928" y="5080404"/>
            <a:ext cx="4075784" cy="70774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9" name="Rectangle 28"/>
          <p:cNvSpPr/>
          <p:nvPr/>
        </p:nvSpPr>
        <p:spPr>
          <a:xfrm>
            <a:off x="7335928" y="5080404"/>
            <a:ext cx="4075784" cy="64008"/>
          </a:xfrm>
          <a:prstGeom prst="rect">
            <a:avLst/>
          </a:prstGeom>
          <a:solidFill>
            <a:srgbClr val="D97757"/>
          </a:solidFill>
          <a:ln>
            <a:noFill/>
          </a:ln>
          <a:effectLst/>
        </p:spPr>
        <p:txBody>
          <a:bodyPr rtlCol="0" anchor="ctr"/>
          <a:lstStyle/>
          <a:p>
            <a:pPr algn="ctr"/>
          </a:p>
        </p:txBody>
      </p:sp>
      <p:sp>
        <p:nvSpPr>
          <p:cNvPr id="30" name="Oval 29"/>
          <p:cNvSpPr/>
          <p:nvPr/>
        </p:nvSpPr>
        <p:spPr>
          <a:xfrm>
            <a:off x="7518808" y="5242252"/>
            <a:ext cx="384048" cy="384048"/>
          </a:xfrm>
          <a:prstGeom prst="ellipse">
            <a:avLst/>
          </a:prstGeom>
          <a:solidFill>
            <a:srgbClr val="D97757"/>
          </a:solidFill>
          <a:ln>
            <a:noFill/>
          </a:ln>
          <a:effectLst/>
        </p:spPr>
        <p:txBody>
          <a:bodyPr rtlCol="0" anchor="ctr"/>
          <a:lstStyle/>
          <a:p>
            <a:pPr algn="ctr"/>
          </a:p>
        </p:txBody>
      </p:sp>
      <p:sp>
        <p:nvSpPr>
          <p:cNvPr id="31" name="TextBox 30"/>
          <p:cNvSpPr txBox="1"/>
          <p:nvPr/>
        </p:nvSpPr>
        <p:spPr>
          <a:xfrm>
            <a:off x="7518808" y="5242252"/>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2" name="TextBox 31"/>
          <p:cNvSpPr txBox="1"/>
          <p:nvPr/>
        </p:nvSpPr>
        <p:spPr>
          <a:xfrm>
            <a:off x="8067448" y="5080404"/>
            <a:ext cx="3161384" cy="707745"/>
          </a:xfrm>
          <a:prstGeom prst="rect">
            <a:avLst/>
          </a:prstGeom>
          <a:noFill/>
        </p:spPr>
        <p:txBody>
          <a:bodyPr wrap="square" anchor="ctr">
            <a:spAutoFit/>
          </a:bodyPr>
          <a:lstStyle/>
          <a:p>
            <a:pPr algn="l">
              <a:spcAft>
                <a:spcPts val="200"/>
              </a:spcAft>
            </a:pPr>
            <a:r>
              <a:rPr sz="1400" b="1">
                <a:solidFill>
                  <a:srgbClr val="21201C"/>
                </a:solidFill>
                <a:latin typeface="Calibri"/>
              </a:rPr>
              <a:t>More options, Expand, Close</a:t>
            </a:r>
          </a:p>
          <a:p>
            <a:pPr algn="l">
              <a:spcAft>
                <a:spcPts val="200"/>
              </a:spcAft>
            </a:pPr>
            <a:r>
              <a:rPr sz="1200" b="0">
                <a:solidFill>
                  <a:srgbClr val="6B6862"/>
                </a:solidFill>
                <a:latin typeface="Calibri"/>
              </a:rPr>
              <a:t>Clear history; make the panel larger; close it.</a:t>
            </a:r>
          </a:p>
        </p:txBody>
      </p:sp>
      <p:sp>
        <p:nvSpPr>
          <p:cNvPr id="33" name="TextBox 3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5" name="TextBox 3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INTERFACE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Shortcuts and Key Controls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Insert / Copy</a:t>
            </a:r>
          </a:p>
          <a:p>
            <a:pPr algn="l">
              <a:spcAft>
                <a:spcPts val="300"/>
              </a:spcAft>
            </a:pPr>
            <a:r>
              <a:rPr sz="1400" b="0">
                <a:solidFill>
                  <a:srgbClr val="6B6862"/>
                </a:solidFill>
                <a:latin typeface="Calibri"/>
              </a:rPr>
              <a:t>Keep a result: insert it into the sheet or copy it.</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Retry</a:t>
            </a:r>
          </a:p>
          <a:p>
            <a:pPr algn="l">
              <a:spcAft>
                <a:spcPts val="300"/>
              </a:spcAft>
            </a:pPr>
            <a:r>
              <a:rPr sz="1400" b="0">
                <a:solidFill>
                  <a:srgbClr val="6B6862"/>
                </a:solidFill>
                <a:latin typeface="Calibri"/>
              </a:rPr>
              <a:t>A different version; Retry with Google Search adds the web.</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Analysis steps / Show code</a:t>
            </a:r>
          </a:p>
          <a:p>
            <a:pPr algn="l">
              <a:spcAft>
                <a:spcPts val="300"/>
              </a:spcAft>
            </a:pPr>
            <a:r>
              <a:rPr sz="1400" b="0">
                <a:solidFill>
                  <a:srgbClr val="6B6862"/>
                </a:solidFill>
                <a:latin typeface="Calibri"/>
              </a:rPr>
              <a:t>See how Gemini calculated an answer.</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Settings / Undo</a:t>
            </a:r>
          </a:p>
          <a:p>
            <a:pPr algn="l">
              <a:spcAft>
                <a:spcPts val="300"/>
              </a:spcAft>
            </a:pPr>
            <a:r>
              <a:rPr sz="1400" b="0">
                <a:solidFill>
                  <a:srgbClr val="6B6862"/>
                </a:solidFill>
                <a:latin typeface="Calibri"/>
              </a:rPr>
              <a:t>Adjust or reverse the last action.</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Shortcuts</a:t>
            </a:r>
          </a:p>
          <a:p>
            <a:pPr algn="l">
              <a:spcAft>
                <a:spcPts val="300"/>
              </a:spcAft>
            </a:pPr>
            <a:r>
              <a:rPr sz="1400" b="0">
                <a:solidFill>
                  <a:srgbClr val="6B6862"/>
                </a:solidFill>
                <a:latin typeface="Calibri"/>
              </a:rPr>
              <a:t>Summarise: Cmd+Ctrl+N / Ctrl+Alt+N. Formula: = then Cmd+Ctrl+G / Ctrl+Alt+G.</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THEME · GEMINI SIDE PANEL &amp; SUMMARIES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Open Gemini and Explore the Q3 Candidate Export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You are a talent analyst at Orchid Bay Talent Partners, a fictional Singapore recruitment and HR firm. The Q3 2026 hiring drive has just closed its first round: 243 rows exported from the applicant tracking system for eight client roles. You will open the Gemini side panel, read its automatic summary, ask questions in plain English, focus Gemini on the tabs you choose, insert a table into the sheet, and try the panel's controls - Retry, Undo, feedback and Clear history.</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OrchidBay_Q3_Applications_Export as a Google Sheets file with an inserted Applications_by_Position table, a check formula that confirms Gemini's stage count, and a filled Prompt_Log</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Open Gemini</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Summarise</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Ask across tabs</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Insert</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Spot issues</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Google Sheets · Gemini side panel (summary, prompts, sources, Insert) · OrchidBay_Q3_Applications_Export.xlsx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Summary:  </a:t>
            </a:r>
            <a:r>
              <a:rPr sz="1200" b="0">
                <a:solidFill>
                  <a:srgbClr val="21201C"/>
                </a:solidFill>
                <a:latin typeface="Calibri"/>
              </a:rPr>
              <a:t>Give me a five-bullet summary of this candidate data for the Head of Talent.</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condenses the export into five points for a manager - check each number against the sheet.</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Question:  </a:t>
            </a:r>
            <a:r>
              <a:rPr sz="1200" b="0">
                <a:solidFill>
                  <a:srgbClr val="21201C"/>
                </a:solidFill>
                <a:latin typeface="Calibri"/>
              </a:rPr>
              <a:t>Which Source brought in the most applications?</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Counts applications per Source. Spelling variants such as 'Linked In' may split a source - you fix that in Lab 3.</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Question:  </a:t>
            </a:r>
            <a:r>
              <a:rPr sz="1200" b="0">
                <a:solidFill>
                  <a:srgbClr val="21201C"/>
                </a:solidFill>
                <a:latin typeface="Calibri"/>
              </a:rPr>
              <a:t>Which recruiter owns the most applications, and for which positions?</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Counts applications per Recruiter and links each recruiter to their roles via Position.</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Help:  </a:t>
            </a:r>
            <a:r>
              <a:rPr sz="1200" b="0">
                <a:solidFill>
                  <a:srgbClr val="21201C"/>
                </a:solidFill>
                <a:latin typeface="Calibri"/>
              </a:rPr>
              <a:t>How do I freeze the header row in Google Sheets?</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answers how-to questions about Google Sheets itself, step by step.</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Insight:  </a:t>
            </a:r>
            <a:r>
              <a:rPr sz="1200" b="0">
                <a:solidFill>
                  <a:srgbClr val="21201C"/>
                </a:solidFill>
                <a:latin typeface="Calibri"/>
              </a:rPr>
              <a:t>What's interesting about this data? Give three observations with the numbers behind them.</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looks for patterns and backs each one with a number you can check with COUNTIF.</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Rows and columns</a:t>
            </a:r>
          </a:p>
          <a:p>
            <a:pPr algn="l">
              <a:spcAft>
                <a:spcPts val="300"/>
              </a:spcAft>
            </a:pPr>
            <a:r>
              <a:rPr sz="1300" b="0">
                <a:solidFill>
                  <a:srgbClr val="6B6862"/>
                </a:solidFill>
                <a:latin typeface="Calibri"/>
              </a:rPr>
              <a:t>243 rows of data, 16 columns; dates 2026-07-01 to 2026-09-26.</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Applications_by_Position tab</a:t>
            </a:r>
          </a:p>
          <a:p>
            <a:pPr algn="l">
              <a:spcAft>
                <a:spcPts val="300"/>
              </a:spcAft>
            </a:pPr>
            <a:r>
              <a:rPr sz="1300" b="0">
                <a:solidFill>
                  <a:srgbClr val="6B6862"/>
                </a:solidFill>
                <a:latin typeface="Calibri"/>
              </a:rPr>
              <a:t>8 positions; Data Analyst 41 applications for 2 openings; sorted by Applications_per_Opening.</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Stage check</a:t>
            </a:r>
          </a:p>
          <a:p>
            <a:pPr algn="l">
              <a:spcAft>
                <a:spcPts val="300"/>
              </a:spcAft>
            </a:pPr>
            <a:r>
              <a:rPr sz="1300" b="0">
                <a:solidFill>
                  <a:srgbClr val="6B6862"/>
                </a:solidFill>
                <a:latin typeface="Calibri"/>
              </a:rPr>
              <a:t>Rejected = 150 and Hired = 11, matching Gemini's answer.</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Issues spotted</a:t>
            </a:r>
          </a:p>
          <a:p>
            <a:pPr algn="l">
              <a:spcAft>
                <a:spcPts val="300"/>
              </a:spcAft>
            </a:pPr>
            <a:r>
              <a:rPr sz="1300" b="0">
                <a:solidFill>
                  <a:srgbClr val="6B6862"/>
                </a:solidFill>
                <a:latin typeface="Calibri"/>
              </a:rPr>
              <a:t>Gemini lists repeated IDs, Source spelling variants, blank or invalid emails, text salaries and a negative Years_Experience.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Prompt_Log</a:t>
            </a:r>
          </a:p>
          <a:p>
            <a:pPr algn="l">
              <a:spcAft>
                <a:spcPts val="300"/>
              </a:spcAft>
            </a:pPr>
            <a:r>
              <a:rPr sz="1300" b="0">
                <a:solidFill>
                  <a:srgbClr val="6B6862"/>
                </a:solidFill>
                <a:latin typeface="Calibri"/>
              </a:rPr>
              <a:t>Every prompt you ran has What Gemini did, How I verified and a Decision.</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Why Data Quality Matters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Complete, consistent, unique, valid data. Typical issues: duplicates, spelling variants, text numbers.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Every count and chart inherits the errors - 'Linked In' and 'LinkedIn' become two sources.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Profile before you analyse: rows vs unique IDs, distinct values, data types.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Gemini — Why Data Quality Matters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Check the Applications tab for data-quality problems. Don't change anything.</a:t>
            </a:r>
          </a:p>
          <a:p>
            <a:pPr>
              <a:spcAft>
                <a:spcPts val="1000"/>
              </a:spcAft>
            </a:pPr>
            <a:r>
              <a:rPr sz="1600" b="0">
                <a:solidFill>
                  <a:srgbClr val="21201C"/>
                </a:solidFill>
                <a:latin typeface="Calibri"/>
              </a:rPr>
              <a:t>•  Highlight duplicate values in the Candidate_ID column in orange.</a:t>
            </a:r>
          </a:p>
          <a:p>
            <a:pPr>
              <a:spcAft>
                <a:spcPts val="1000"/>
              </a:spcAft>
            </a:pPr>
            <a:r>
              <a:rPr sz="1600" b="0">
                <a:solidFill>
                  <a:srgbClr val="21201C"/>
                </a:solidFill>
                <a:latin typeface="Calibri"/>
              </a:rPr>
              <a:t>•  List every distinct Source value exactly as spelt.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243 rows vs 240 unique IDs.</a:t>
            </a:r>
          </a:p>
          <a:p>
            <a:pPr>
              <a:spcAft>
                <a:spcPts val="1000"/>
              </a:spcAft>
            </a:pPr>
            <a:r>
              <a:rPr sz="1600" b="0">
                <a:solidFill>
                  <a:srgbClr val="21201C"/>
                </a:solidFill>
                <a:latin typeface="Calibri"/>
              </a:rPr>
              <a:t>•  =COUNTUNIQUE(...) confirms it.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THEME · DATA QUALITY CHECK</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Check the Quality of the Candidate Data with Gemini</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Before the recruitment manager sees any numbers, you check the raw Q3 export. You will ask Gemini to profile the data, find the repeated Candidate_IDs and the Source spelling variants, and apply conditional formatting actions that highlight duplicates, bad emails, text salaries and impossible values. A Checks tab of formulas confirms every count, and Gemini drafts a short data-quality report. You do not fix anything yet - that is Lab 3.</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OrchidBay_Q3_Applications_QualityCheck with duplicates and problem cells highlighted, a Checks tab of formulas confirming each issue count, an inserted data-quality report and a filled Prompt_Log</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Profile</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Find duplicates</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Highlight issues</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Count with formulas</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Report</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Google Sheets · Gemini side panel (questions, conditional-formatting actions, formulas) · OrchidBay_Q3_Applications_QualityCheck.xlsx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2</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Profile:  </a:t>
            </a:r>
            <a:r>
              <a:rPr sz="1200" b="0">
                <a:solidFill>
                  <a:srgbClr val="21201C"/>
                </a:solidFill>
                <a:latin typeface="Calibri"/>
              </a:rPr>
              <a:t>Which columns have blank cells, and how many blanks does each have?</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counts blanks per column - a fast completeness profile.</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Validate:  </a:t>
            </a:r>
            <a:r>
              <a:rPr sz="1200" b="0">
                <a:solidFill>
                  <a:srgbClr val="21201C"/>
                </a:solidFill>
                <a:latin typeface="Calibri"/>
              </a:rPr>
              <a:t>Are there any Applied_Date values outside July to September 2026?</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range check on dates: anything outside the hiring drive is suspicious.</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Validate:  </a:t>
            </a:r>
            <a:r>
              <a:rPr sz="1200" b="0">
                <a:solidFill>
                  <a:srgbClr val="21201C"/>
                </a:solidFill>
                <a:latin typeface="Calibri"/>
              </a:rPr>
              <a:t>Do any rows have a Position that doesn't match the Position for their Job_ID on the Jobs tab?</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cross-tab consistency check between Applications and the Jobs reference table.</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Highlight:  </a:t>
            </a:r>
            <a:r>
              <a:rPr sz="1200" b="0">
                <a:solidFill>
                  <a:srgbClr val="21201C"/>
                </a:solidFill>
                <a:latin typeface="Calibri"/>
              </a:rPr>
              <a:t>Highlight Full_Name cells that are all in capital letters in light purple.</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Shows the 4 names typed in capitals, which Lab 3 tidies with PROPER.</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Explain:  </a:t>
            </a:r>
            <a:r>
              <a:rPr sz="1200" b="0">
                <a:solidFill>
                  <a:srgbClr val="21201C"/>
                </a:solidFill>
                <a:latin typeface="Calibri"/>
              </a:rPr>
              <a:t>Why is a salary stored as text a problem when I calculate an average?</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explains the impact of a data-type problem in plain English.</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2</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Duplicates</a:t>
            </a:r>
          </a:p>
          <a:p>
            <a:pPr algn="l">
              <a:spcAft>
                <a:spcPts val="300"/>
              </a:spcAft>
            </a:pPr>
            <a:r>
              <a:rPr sz="1300" b="0">
                <a:solidFill>
                  <a:srgbClr val="6B6862"/>
                </a:solidFill>
                <a:latin typeface="Calibri"/>
              </a:rPr>
              <a:t>243 rows, 240 unique IDs; CAN-26531, CAN-26601, CAN-26608 each appear twice; 6 orange cells.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Source variants</a:t>
            </a:r>
          </a:p>
          <a:p>
            <a:pPr algn="l">
              <a:spcAft>
                <a:spcPts val="300"/>
              </a:spcAft>
            </a:pPr>
            <a:r>
              <a:rPr sz="1300" b="0">
                <a:solidFill>
                  <a:srgbClr val="6B6862"/>
                </a:solidFill>
                <a:latin typeface="Calibri"/>
              </a:rPr>
              <a:t>'Linked In' 3, 'linkedin' 2, 'JobStreet ' (trailing space) 3.</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Emails</a:t>
            </a:r>
          </a:p>
          <a:p>
            <a:pPr algn="l">
              <a:spcAft>
                <a:spcPts val="300"/>
              </a:spcAft>
            </a:pPr>
            <a:r>
              <a:rPr sz="1300" b="0">
                <a:solidFill>
                  <a:srgbClr val="6B6862"/>
                </a:solidFill>
                <a:latin typeface="Calibri"/>
              </a:rPr>
              <a:t>4 blank + 2 without @ (CAN-26697, CAN-26606) = 6 light-red cells.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Salaries and experience</a:t>
            </a:r>
          </a:p>
          <a:p>
            <a:pPr algn="l">
              <a:spcAft>
                <a:spcPts val="300"/>
              </a:spcAft>
            </a:pPr>
            <a:r>
              <a:rPr sz="1300" b="0">
                <a:solidFill>
                  <a:srgbClr val="6B6862"/>
                </a:solidFill>
                <a:latin typeface="Calibri"/>
              </a:rPr>
              <a:t>5 text salaries in yellow; 1 negative Years_Experience (CAN-26607) in red.</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Checks tab</a:t>
            </a:r>
          </a:p>
          <a:p>
            <a:pPr algn="l">
              <a:spcAft>
                <a:spcPts val="300"/>
              </a:spcAft>
            </a:pPr>
            <a:r>
              <a:rPr sz="1300" b="0">
                <a:solidFill>
                  <a:srgbClr val="6B6862"/>
                </a:solidFill>
                <a:latin typeface="Calibri"/>
              </a:rPr>
              <a:t>Six formulas in column B match the expected values already in column C (243, 240, 4, 2, 5, 1).</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Gemini Actions: Preview, Apply, Undo</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change Gemini makes from a prompt: shown on an Action preview card, applied when you click Apply.</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Menus become sentences - and the preview, Settings and Undo keep you in control.</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Did you check the result before your next change? Undo only lasts until then.</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with Gemini Actions — Gemini Actions: Preview, Apply, Undo</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 THEN APPLY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In the Source column, replace 'Linked In' and 'linkedin' with 'LinkedIn'.</a:t>
            </a:r>
          </a:p>
          <a:p>
            <a:pPr>
              <a:spcAft>
                <a:spcPts val="1000"/>
              </a:spcAft>
            </a:pPr>
            <a:r>
              <a:rPr sz="1600" b="0">
                <a:solidFill>
                  <a:srgbClr val="21201C"/>
                </a:solidFill>
                <a:latin typeface="Calibri"/>
              </a:rPr>
              <a:t>•  Delete the Internal_Notes column.</a:t>
            </a:r>
          </a:p>
          <a:p>
            <a:pPr>
              <a:spcAft>
                <a:spcPts val="1000"/>
              </a:spcAft>
            </a:pPr>
            <a:r>
              <a:rPr sz="1600" b="0">
                <a:solidFill>
                  <a:srgbClr val="21201C"/>
                </a:solidFill>
                <a:latin typeface="Calibri"/>
              </a:rPr>
              <a:t>•  Freeze the top row and the first column.</a:t>
            </a:r>
          </a:p>
          <a:p>
            <a:pPr>
              <a:spcAft>
                <a:spcPts val="1000"/>
              </a:spcAft>
            </a:pPr>
            <a:r>
              <a:rPr sz="1600" b="0">
                <a:solidFill>
                  <a:srgbClr val="21201C"/>
                </a:solidFill>
                <a:latin typeface="Calibri"/>
              </a:rPr>
              <a:t>•  Sort the table by Applied_Date in descending order.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Filter on Source shows 7 values.</a:t>
            </a:r>
          </a:p>
          <a:p>
            <a:pPr>
              <a:spcAft>
                <a:spcPts val="1000"/>
              </a:spcAft>
            </a:pPr>
            <a:r>
              <a:rPr sz="1600" b="0">
                <a:solidFill>
                  <a:srgbClr val="21201C"/>
                </a:solidFill>
                <a:latin typeface="Calibri"/>
              </a:rPr>
              <a:t>•  Still 240 rows after each change.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Data Prep: From Export to Clean Table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Turn an export into an analysis-ready table: no duplicates, one spelling per category, real numbers.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Clean data is what makes every later formula, chart and AI answer trustworthy.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Can you prove the row count before and after each change?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Gemini — Data Prep: From Export to Clean Table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How can I remove duplicate rows on the Applications tab?</a:t>
            </a:r>
          </a:p>
          <a:p>
            <a:pPr>
              <a:spcAft>
                <a:spcPts val="1000"/>
              </a:spcAft>
            </a:pPr>
            <a:r>
              <a:rPr sz="1600" b="0">
                <a:solidFill>
                  <a:srgbClr val="21201C"/>
                </a:solidFill>
                <a:latin typeface="Calibri"/>
              </a:rPr>
              <a:t>•  Set Expected_Salary to currency S$ with no decimal places.</a:t>
            </a:r>
          </a:p>
          <a:p>
            <a:pPr>
              <a:spcAft>
                <a:spcPts val="1000"/>
              </a:spcAft>
            </a:pPr>
            <a:r>
              <a:rPr sz="1600" b="0">
                <a:solidFill>
                  <a:srgbClr val="21201C"/>
                </a:solidFill>
                <a:latin typeface="Calibri"/>
              </a:rPr>
              <a:t>•  Insert Name_Clean with =PROPER(TRIM(B2)) filled down.</a:t>
            </a:r>
          </a:p>
          <a:p>
            <a:pPr>
              <a:spcAft>
                <a:spcPts val="1000"/>
              </a:spcAft>
            </a:pPr>
            <a:r>
              <a:rPr sz="1600" b="0">
                <a:solidFill>
                  <a:srgbClr val="21201C"/>
                </a:solidFill>
                <a:latin typeface="Calibri"/>
              </a:rPr>
              <a:t>•  Apply a table style to the data.</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240 rows, 7 sources.</a:t>
            </a:r>
          </a:p>
          <a:p>
            <a:pPr>
              <a:spcAft>
                <a:spcPts val="1000"/>
              </a:spcAft>
            </a:pPr>
            <a:r>
              <a:rPr sz="1600" b="0">
                <a:solidFill>
                  <a:srgbClr val="21201C"/>
                </a:solidFill>
                <a:latin typeface="Calibri"/>
              </a:rPr>
              <a:t>•  =COUNT on salaries = 240.</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THEME · DATA PREP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Clean and Prepare the Candidate Data with Gemini Actions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You fix everything you found in Lab 2. Gemini explains how to remove duplicates, then performs actions for you: find and replace the Source variants, convert text salaries to numbers with a currency format, add a clean name column, delete the notes column, freeze the headers, apply a table style, and sort and filter the data. A multi-step prompt finishes the clean-up in one go. You check the row count after every change.</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OrchidBay_Q3_Applications_Prep as a clean table: 240 rows, seven Source values, numeric S$ salaries, a Name_Clean column, frozen headers, a Stage dropdown and Hired rows highlighted</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Remove duplicates</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Fix categories</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Fix types</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Restructure</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Sort &amp; filter</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Google Sheets · Gemini actions (find and replace, number format, insert/delete column, freeze, sort, filter, table style) · Data cleanup</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3</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Fill:  </a:t>
            </a:r>
            <a:r>
              <a:rPr sz="1200" b="0">
                <a:solidFill>
                  <a:srgbClr val="21201C"/>
                </a:solidFill>
                <a:latin typeface="Calibri"/>
              </a:rPr>
              <a:t>Fill the empty Email cells with the text 'missing - ask candidate'.</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Fill range: writes one value into every selected empty cell - flagging the gaps instead of hiding them.</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Insert:  </a:t>
            </a:r>
            <a:r>
              <a:rPr sz="1200" b="0">
                <a:solidFill>
                  <a:srgbClr val="21201C"/>
                </a:solidFill>
                <a:latin typeface="Calibri"/>
              </a:rPr>
              <a:t>Insert a new column called Source_Group after Source and leave it empty.</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Insert dimension: adds an empty column exactly where you name it.</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Number format:  </a:t>
            </a:r>
            <a:r>
              <a:rPr sz="1200" b="0">
                <a:solidFill>
                  <a:srgbClr val="21201C"/>
                </a:solidFill>
                <a:latin typeface="Calibri"/>
              </a:rPr>
              <a:t>Format Screening_Score as a whole number and Interview_Score with one decimal place.</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Set number format: controls how numbers display without changing their values.</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Delete rows:  </a:t>
            </a:r>
            <a:r>
              <a:rPr sz="1200" b="0">
                <a:solidFill>
                  <a:srgbClr val="21201C"/>
                </a:solidFill>
                <a:latin typeface="Calibri"/>
              </a:rPr>
              <a:t>Delete the rows where Stage is Withdrawn.</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Delete dimension: removes rows that match a condition. Try it on a copy - then Undo.</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Help:  </a:t>
            </a:r>
            <a:r>
              <a:rPr sz="1200" b="0">
                <a:solidFill>
                  <a:srgbClr val="21201C"/>
                </a:solidFill>
                <a:latin typeface="Calibri"/>
              </a:rPr>
              <a:t>How do I split the Key_Skills column into separate columns?</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explains Data &gt; Split text to columns with ; as the separator.</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3</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Rows</a:t>
            </a:r>
          </a:p>
          <a:p>
            <a:pPr algn="l">
              <a:spcAft>
                <a:spcPts val="300"/>
              </a:spcAft>
            </a:pPr>
            <a:r>
              <a:rPr sz="1300" b="0">
                <a:solidFill>
                  <a:srgbClr val="6B6862"/>
                </a:solidFill>
                <a:latin typeface="Calibri"/>
              </a:rPr>
              <a:t>240 rows after removing 3 duplicates.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Source</a:t>
            </a:r>
          </a:p>
          <a:p>
            <a:pPr algn="l">
              <a:spcAft>
                <a:spcPts val="300"/>
              </a:spcAft>
            </a:pPr>
            <a:r>
              <a:rPr sz="1300" b="0">
                <a:solidFill>
                  <a:srgbClr val="6B6862"/>
                </a:solidFill>
                <a:latin typeface="Calibri"/>
              </a:rPr>
              <a:t>Exactly 7 values in the filter; LinkedIn 49, JobStreet 50.</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Salaries</a:t>
            </a:r>
          </a:p>
          <a:p>
            <a:pPr algn="l">
              <a:spcAft>
                <a:spcPts val="300"/>
              </a:spcAft>
            </a:pPr>
            <a:r>
              <a:rPr sz="1300" b="0">
                <a:solidFill>
                  <a:srgbClr val="6B6862"/>
                </a:solidFill>
                <a:latin typeface="Calibri"/>
              </a:rPr>
              <a:t>=COUNT over the Expected_Salary column returns 240; values show as S$ with no decimals.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Structure</a:t>
            </a:r>
          </a:p>
          <a:p>
            <a:pPr algn="l">
              <a:spcAft>
                <a:spcPts val="300"/>
              </a:spcAft>
            </a:pPr>
            <a:r>
              <a:rPr sz="1300" b="0">
                <a:solidFill>
                  <a:srgbClr val="6B6862"/>
                </a:solidFill>
                <a:latin typeface="Calibri"/>
              </a:rPr>
              <a:t>Name_Clean filled to the last row; Internal_Notes gone; headers frozen; CAN-26607 shows 3 years.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Sort, filter, dropdown</a:t>
            </a:r>
          </a:p>
          <a:p>
            <a:pPr algn="l">
              <a:spcAft>
                <a:spcPts val="300"/>
              </a:spcAft>
            </a:pPr>
            <a:r>
              <a:rPr sz="1300" b="0">
                <a:solidFill>
                  <a:srgbClr val="6B6862"/>
                </a:solidFill>
                <a:latin typeface="Calibri"/>
              </a:rPr>
              <a:t>Newest date (2026-09-26) at the top; the filter showed 2 rows; Stage dropdown added; 11 Hired rows light green.</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Formulas: VLOOKUP, COUNTIF and Nested IF</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VLOOKUP fetches from a table, IF decides, nested IF/AND handles several outcomes, COUNTIF(S) counts.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Rules become repeatable and auditable - change a threshold once and everyone is re-screened.</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Can you work row 2 out by hand and get the same answer?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Gemini — Formulas: VLOOKUP, COUNTIF and Nested IF</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DESCRIBE THE RULE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Look up the Job_ID in E2 on Jobs and return Min_Years.</a:t>
            </a:r>
          </a:p>
          <a:p>
            <a:pPr>
              <a:spcAft>
                <a:spcPts val="1000"/>
              </a:spcAft>
            </a:pPr>
            <a:r>
              <a:rPr sz="1600" b="0">
                <a:solidFill>
                  <a:srgbClr val="21201C"/>
                </a:solidFill>
                <a:latin typeface="Calibri"/>
              </a:rPr>
              <a:t>•  Return Within budget if K2 &lt;= Q2, otherwise Above budget.</a:t>
            </a:r>
          </a:p>
          <a:p>
            <a:pPr>
              <a:spcAft>
                <a:spcPts val="1000"/>
              </a:spcAft>
            </a:pPr>
            <a:r>
              <a:rPr sz="1600" b="0">
                <a:solidFill>
                  <a:srgbClr val="21201C"/>
                </a:solidFill>
                <a:latin typeface="Calibri"/>
              </a:rPr>
              <a:t>•  Strong if M2 &gt;= pass mark AND H2 &gt;= R2; Possible if M2 &gt;= 60; else Not suitable.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Row 2 checked by hand.</a:t>
            </a:r>
          </a:p>
          <a:p>
            <a:pPr>
              <a:spcAft>
                <a:spcPts val="1000"/>
              </a:spcAft>
            </a:pPr>
            <a:r>
              <a:rPr sz="1600" b="0">
                <a:solidFill>
                  <a:srgbClr val="21201C"/>
                </a:solidFill>
                <a:latin typeface="Calibri"/>
              </a:rPr>
              <a:t>•  Totals add up to 240.</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Generate, Explain and Fix Formulas with Gemini</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Describe it and Gemini writes it; ask and Gemini explains it; hover an error and Fix repairs it.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No syntax to memorise - but you still read, explain and check every formula.</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Could you explain this formula to a colleague in one sentence?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Try It in Gemini — Generate, Explain and Fix Formulas with Gemini</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 FOR THE FORMULA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Type = in a cell, then Cmd + Ctrl + G (Mac) / Ctrl + Alt + G.</a:t>
            </a:r>
          </a:p>
          <a:p>
            <a:pPr>
              <a:spcAft>
                <a:spcPts val="1000"/>
              </a:spcAft>
            </a:pPr>
            <a:r>
              <a:rPr sz="1600" b="0">
                <a:solidFill>
                  <a:srgbClr val="21201C"/>
                </a:solidFill>
                <a:latin typeface="Calibri"/>
              </a:rPr>
              <a:t>•  Explain the formula in T2 step by step.</a:t>
            </a:r>
          </a:p>
          <a:p>
            <a:pPr>
              <a:spcAft>
                <a:spcPts val="1000"/>
              </a:spcAft>
            </a:pPr>
            <a:r>
              <a:rPr sz="1600" b="0">
                <a:solidFill>
                  <a:srgbClr val="21201C"/>
                </a:solidFill>
                <a:latin typeface="Calibri"/>
              </a:rPr>
              <a:t>•  Hover over #REF! &gt; Fix.</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Q2 shows S$6,500 after Fix.</a:t>
            </a:r>
          </a:p>
          <a:p>
            <a:pPr>
              <a:spcAft>
                <a:spcPts val="1000"/>
              </a:spcAft>
            </a:pPr>
            <a:r>
              <a:rPr sz="1600" b="0">
                <a:solidFill>
                  <a:srgbClr val="21201C"/>
                </a:solidFill>
                <a:latin typeface="Calibri"/>
              </a:rPr>
              <a:t>•  Explanation matches row 2.</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THEME · FORMULAS: VLOOKUP, COUNTIF &amp; NESTED IF</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Generate, Explain and Fix Screening Formulas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The hiring managers want a first screen of all 240 applications. You will fix a broken lookup with Gemini's Fix button, then describe each rule in plain English and let Gemini write the formula: a VLOOKUP for the role's minimum experience, an IF for salary fit, and a nested IF with AND that labels each candidate Strong, Possible or Not suitable. Gemini explains the formula, COUNTIF and COUNTIFS summarise the results, and independent check formulas prove them.</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OrchidBay_Screening_Formulas with working Budget_Max, Min_Years, Salary_Fit and Screen_Result columns, a Checks tab of COUNTIF/COUNTIFS results that reconcile to 240, and a filled Prompt_Log</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Fix an error</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VLOOKUP</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IF</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Nested IF</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COUNTIF &amp; check</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Google Sheets · Gemini formula help (side panel, = then Cmd/Ctrl + Ctrl/Alt + G, Fix) · OrchidBay_Screening_Formulas.xlsx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4</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Lookup:  </a:t>
            </a:r>
            <a:r>
              <a:rPr sz="1200" b="0">
                <a:solidFill>
                  <a:srgbClr val="21201C"/>
                </a:solidFill>
                <a:latin typeface="Calibri"/>
              </a:rPr>
              <a:t>Create a formula that returns the Hiring_Manager for the Job_ID in E2 from the Jobs tab (A2:J9).</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VLOOKUP again, returning a different column (10, Hiring_Manager).</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Date:  </a:t>
            </a:r>
            <a:r>
              <a:rPr sz="1200" b="0">
                <a:solidFill>
                  <a:srgbClr val="21201C"/>
                </a:solidFill>
                <a:latin typeface="Calibri"/>
              </a:rPr>
              <a:t>Create a formula for the number of days between Applied_Date in D2 and the report date in Settings!B1.</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Writes =Settings!$B$1-D2: subtracting dates gives the number of days.</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Text:  </a:t>
            </a:r>
            <a:r>
              <a:rPr sz="1200" b="0">
                <a:solidFill>
                  <a:srgbClr val="21201C"/>
                </a:solidFill>
                <a:latin typeface="Calibri"/>
              </a:rPr>
              <a:t>Create a formula that returns TRUE if Key_Skills in J2 contains "SQL".</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Writes =REGEXMATCH(J2,"SQL") or =ISNUMBER(SEARCH("SQL",J2)) - a keyword screen.</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Count:  </a:t>
            </a:r>
            <a:r>
              <a:rPr sz="1200" b="0">
                <a:solidFill>
                  <a:srgbClr val="21201C"/>
                </a:solidFill>
                <a:latin typeface="Calibri"/>
              </a:rPr>
              <a:t>Create a formula that counts Above budget candidates for each Position.</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may build a small table of COUNTIFS - check one row by hand.</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Explain:  </a:t>
            </a:r>
            <a:r>
              <a:rPr sz="1200" b="0">
                <a:solidFill>
                  <a:srgbClr val="21201C"/>
                </a:solidFill>
                <a:latin typeface="Calibri"/>
              </a:rPr>
              <a:t>Explain the difference between VLOOKUP and XLOOKUP, and when to use each.</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explains both lookups; XLOOKUP needs no column number and can look left.</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4</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Fix</a:t>
            </a:r>
          </a:p>
          <a:p>
            <a:pPr algn="l">
              <a:spcAft>
                <a:spcPts val="300"/>
              </a:spcAft>
            </a:pPr>
            <a:r>
              <a:rPr sz="1300" b="0">
                <a:solidFill>
                  <a:srgbClr val="6B6862"/>
                </a:solidFill>
                <a:latin typeface="Calibri"/>
              </a:rPr>
              <a:t>Q2 = S$6,500; no #REF! left in column Q.</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Row 2</a:t>
            </a:r>
          </a:p>
          <a:p>
            <a:pPr algn="l">
              <a:spcAft>
                <a:spcPts val="300"/>
              </a:spcAft>
            </a:pPr>
            <a:r>
              <a:rPr sz="1300" b="0">
                <a:solidFill>
                  <a:srgbClr val="6B6862"/>
                </a:solidFill>
                <a:latin typeface="Calibri"/>
              </a:rPr>
              <a:t>CAN-26481: Min_Years 2, Salary_Fit Within budget, Screen_Result Possible.</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Screen_Result totals</a:t>
            </a:r>
          </a:p>
          <a:p>
            <a:pPr algn="l">
              <a:spcAft>
                <a:spcPts val="300"/>
              </a:spcAft>
            </a:pPr>
            <a:r>
              <a:rPr sz="1300" b="0">
                <a:solidFill>
                  <a:srgbClr val="6B6862"/>
                </a:solidFill>
                <a:latin typeface="Calibri"/>
              </a:rPr>
              <a:t>Strong 88 + Possible 73 + Not suitable 79 = 240.</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COUNTIFS</a:t>
            </a:r>
          </a:p>
          <a:p>
            <a:pPr algn="l">
              <a:spcAft>
                <a:spcPts val="300"/>
              </a:spcAft>
            </a:pPr>
            <a:r>
              <a:rPr sz="1300" b="0">
                <a:solidFill>
                  <a:srgbClr val="6B6862"/>
                </a:solidFill>
                <a:latin typeface="Calibri"/>
              </a:rPr>
              <a:t>Strong Data Analysts = 14; Above budget = 62 (Within budget 178).</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What-if</a:t>
            </a:r>
          </a:p>
          <a:p>
            <a:pPr algn="l">
              <a:spcAft>
                <a:spcPts val="300"/>
              </a:spcAft>
            </a:pPr>
            <a:r>
              <a:rPr sz="1300" b="0">
                <a:solidFill>
                  <a:srgbClr val="6B6862"/>
                </a:solidFill>
                <a:latin typeface="Calibri"/>
              </a:rPr>
              <a:t>Pass mark 75 gives 60 Strong; set back to 70 gives 88.</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Fundamentals of Google Sheet</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Side panel: Summaries, questions across chosen tabs, Insert, Retry, Undo and Clear history.</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Data quality: Duplicates, spelling variants, bad emails, text numbers and impossible values found and counted.</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Data prep: Gemini actions - find and replace, number format, insert/delete, freeze, sort, filter - with counts before and after.</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LO1 · Formulas: VLOOKUP, IF, nested IF and COUNTIFS from plain English; explained, fixed and reconciled.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02</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Data Analytics and Visualization</a:t>
            </a:r>
          </a:p>
        </p:txBody>
      </p:sp>
      <p:sp>
        <p:nvSpPr>
          <p:cNvPr id="7" name="Rectangle 6"/>
          <p:cNvSpPr/>
          <p:nvPr/>
        </p:nvSpPr>
        <p:spPr>
          <a:xfrm>
            <a:off x="841248" y="4206240"/>
            <a:ext cx="1143000" cy="64008"/>
          </a:xfrm>
          <a:prstGeom prst="rect">
            <a:avLst/>
          </a:prstGeom>
          <a:solidFill>
            <a:srgbClr val="3A7D7B"/>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tables, trackers and dropdowns · conditional formatting · the AI function and Fill with Gemini · data analysis, insights and pivot tables · charts and graphs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Gemini for Google Sheet (C817)  ·  C817</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LABS 5-8</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Key Concepts — Data Analytics and Visualization</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Structure from text</a:t>
            </a:r>
          </a:p>
          <a:p>
            <a:pPr algn="l">
              <a:spcAft>
                <a:spcPts val="300"/>
              </a:spcAft>
            </a:pPr>
            <a:r>
              <a:rPr sz="1400" b="0">
                <a:solidFill>
                  <a:srgbClr val="6B6862"/>
                </a:solidFill>
                <a:latin typeface="Calibri"/>
              </a:rPr>
              <a:t>Gemini turns notes into a table you refine before you insert it.</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Rules that colour</a:t>
            </a:r>
          </a:p>
          <a:p>
            <a:pPr algn="l">
              <a:spcAft>
                <a:spcPts val="300"/>
              </a:spcAft>
            </a:pPr>
            <a:r>
              <a:rPr sz="1400" b="0">
                <a:solidFill>
                  <a:srgbClr val="6B6862"/>
                </a:solidFill>
                <a:latin typeface="Calibri"/>
              </a:rPr>
              <a:t>Conditional formatting flags what matters; Settings lets you edit the rule.</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AI in a cell</a:t>
            </a:r>
          </a:p>
          <a:p>
            <a:pPr algn="l">
              <a:spcAft>
                <a:spcPts val="300"/>
              </a:spcAft>
            </a:pPr>
            <a:r>
              <a:rPr sz="1400" b="0">
                <a:solidFill>
                  <a:srgbClr val="6B6862"/>
                </a:solidFill>
                <a:latin typeface="Calibri"/>
              </a:rPr>
              <a:t>=AI(prompt, range) extracts, categorises and summarises text row by row.</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Insights with evidence</a:t>
            </a:r>
          </a:p>
          <a:p>
            <a:pPr algn="l">
              <a:spcAft>
                <a:spcPts val="300"/>
              </a:spcAft>
            </a:pPr>
            <a:r>
              <a:rPr sz="1400" b="0">
                <a:solidFill>
                  <a:srgbClr val="6B6862"/>
                </a:solidFill>
                <a:latin typeface="Calibri"/>
              </a:rPr>
              <a:t>Analysis steps show how Gemini calculated; you confirm with a formula.</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Pivot tables on request</a:t>
            </a:r>
          </a:p>
          <a:p>
            <a:pPr algn="l">
              <a:spcAft>
                <a:spcPts val="300"/>
              </a:spcAft>
            </a:pPr>
            <a:r>
              <a:rPr sz="1400" b="0">
                <a:solidFill>
                  <a:srgbClr val="6B6862"/>
                </a:solidFill>
                <a:latin typeface="Calibri"/>
              </a:rPr>
              <a:t>Gemini builds a pivot table; you adjust it and check its totals.</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Inserted charts are copies</a:t>
            </a:r>
          </a:p>
          <a:p>
            <a:pPr algn="l">
              <a:spcAft>
                <a:spcPts val="300"/>
              </a:spcAft>
            </a:pPr>
            <a:r>
              <a:rPr sz="1400" b="0">
                <a:solidFill>
                  <a:srgbClr val="6B6862"/>
                </a:solidFill>
                <a:latin typeface="Calibri"/>
              </a:rPr>
              <a:t>A chart Gemini inserts doesn't follow later changes - build linked ones too.</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Hands-On Labs — Data Analytics and Visualization</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5–6</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Tables, Trackers &amp; Conditional Formatting</a:t>
            </a:r>
          </a:p>
          <a:p>
            <a:pPr>
              <a:spcAft>
                <a:spcPts val="900"/>
              </a:spcAft>
            </a:pPr>
            <a:r>
              <a:rPr sz="1200" b="0">
                <a:solidFill>
                  <a:srgbClr val="6B6862"/>
                </a:solidFill>
                <a:latin typeface="Calibri"/>
              </a:rPr>
              <a:t>–  Build a Colour-Coded Interview Tracker from Unstructured Notes</a:t>
            </a:r>
          </a:p>
          <a:p>
            <a:pPr>
              <a:spcAft>
                <a:spcPts val="900"/>
              </a:spcAft>
            </a:pPr>
            <a:r>
              <a:rPr sz="1400" b="1">
                <a:solidFill>
                  <a:srgbClr val="21201C"/>
                </a:solidFill>
                <a:latin typeface="Calibri"/>
              </a:rPr>
              <a:t>•  AI Function &amp; Fill with Gemini</a:t>
            </a:r>
          </a:p>
          <a:p>
            <a:pPr>
              <a:spcAft>
                <a:spcPts val="900"/>
              </a:spcAft>
            </a:pPr>
            <a:r>
              <a:rPr sz="1200" b="0">
                <a:solidFill>
                  <a:srgbClr val="6B6862"/>
                </a:solidFill>
                <a:latin typeface="Calibri"/>
              </a:rPr>
              <a:t>–  Extract and Categorise Candidate Text with the AI Function</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7–8</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Data Analysis &amp; Insights</a:t>
            </a:r>
          </a:p>
          <a:p>
            <a:pPr>
              <a:spcAft>
                <a:spcPts val="900"/>
              </a:spcAft>
            </a:pPr>
            <a:r>
              <a:rPr sz="1200" b="0">
                <a:solidFill>
                  <a:srgbClr val="6B6862"/>
                </a:solidFill>
                <a:latin typeface="Calibri"/>
              </a:rPr>
              <a:t>–  Generate Hiring Insights and Pivot Tables with Gemini</a:t>
            </a:r>
          </a:p>
          <a:p>
            <a:pPr>
              <a:spcAft>
                <a:spcPts val="900"/>
              </a:spcAft>
            </a:pPr>
            <a:r>
              <a:rPr sz="1400" b="1">
                <a:solidFill>
                  <a:srgbClr val="21201C"/>
                </a:solidFill>
                <a:latin typeface="Calibri"/>
              </a:rPr>
              <a:t>•  Charts &amp; Visualisation</a:t>
            </a:r>
          </a:p>
          <a:p>
            <a:pPr>
              <a:spcAft>
                <a:spcPts val="900"/>
              </a:spcAft>
            </a:pPr>
            <a:r>
              <a:rPr sz="1200" b="0">
                <a:solidFill>
                  <a:srgbClr val="6B6862"/>
                </a:solidFill>
                <a:latin typeface="Calibri"/>
              </a:rPr>
              <a:t>–  Build Charts That Tell the Hiring Story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Tables, Trackers and Dropdowns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Gemini builds tables from scratch or from notes; dropdowns and checkboxes keep trackers consistent.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Consistent input today means reliable analysis tomorrow.</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Does every note appear once, with a valid Status?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Gemini — Tables, Trackers and Dropdowns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 THEN INSERT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Using the notes on Interview_Notes, create a table with Date, Time, Candidate ... and Status.</a:t>
            </a:r>
          </a:p>
          <a:p>
            <a:pPr>
              <a:spcAft>
                <a:spcPts val="1000"/>
              </a:spcAft>
            </a:pPr>
            <a:r>
              <a:rPr sz="1600" b="0">
                <a:solidFill>
                  <a:srgbClr val="21201C"/>
                </a:solidFill>
                <a:latin typeface="Calibri"/>
              </a:rPr>
              <a:t>•  Follow-up: add Outcome and Reference_Checked columns.</a:t>
            </a:r>
          </a:p>
          <a:p>
            <a:pPr>
              <a:spcAft>
                <a:spcPts val="1000"/>
              </a:spcAft>
            </a:pPr>
            <a:r>
              <a:rPr sz="1600" b="0">
                <a:solidFill>
                  <a:srgbClr val="21201C"/>
                </a:solidFill>
                <a:latin typeface="Calibri"/>
              </a:rPr>
              <a:t>•  Make Status a dropdown with Scheduled, Completed, No-show and Rescheduled.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12 rows; statuses 5/3/2/2.</a:t>
            </a:r>
          </a:p>
          <a:p>
            <a:pPr>
              <a:spcAft>
                <a:spcPts val="1000"/>
              </a:spcAft>
            </a:pPr>
            <a:r>
              <a:rPr sz="1600" b="0">
                <a:solidFill>
                  <a:srgbClr val="21201C"/>
                </a:solidFill>
                <a:latin typeface="Calibri"/>
              </a:rPr>
              <a:t>•  Dropdowns and checkboxes work.</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Conditional Formatting with Gemini</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Formatting that follows a rule: highlight rows, compare columns, colour scales, duplicates.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Exceptions jump out without changing the data - and update as the data changes.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Does a COUNTIF give the same number as the coloured rows?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Gemini — Conditional Formatting with Gemini</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 THEN APPLY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Highlight rows where Screening_Score is 85 or more in light green.</a:t>
            </a:r>
          </a:p>
          <a:p>
            <a:pPr>
              <a:spcAft>
                <a:spcPts val="1000"/>
              </a:spcAft>
            </a:pPr>
            <a:r>
              <a:rPr sz="1600" b="0">
                <a:solidFill>
                  <a:srgbClr val="21201C"/>
                </a:solidFill>
                <a:latin typeface="Calibri"/>
              </a:rPr>
              <a:t>•  Make Expected_Salary bold red when it is greater than Budget_Max.</a:t>
            </a:r>
          </a:p>
          <a:p>
            <a:pPr>
              <a:spcAft>
                <a:spcPts val="1000"/>
              </a:spcAft>
            </a:pPr>
            <a:r>
              <a:rPr sz="1600" b="0">
                <a:solidFill>
                  <a:srgbClr val="21201C"/>
                </a:solidFill>
                <a:latin typeface="Calibri"/>
              </a:rPr>
              <a:t>•  Add a colour scale to Interview_Score from red to green.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11 green rows (21 at 80).</a:t>
            </a:r>
          </a:p>
          <a:p>
            <a:pPr>
              <a:spcAft>
                <a:spcPts val="1000"/>
              </a:spcAft>
            </a:pPr>
            <a:r>
              <a:rPr sz="1600" b="0">
                <a:solidFill>
                  <a:srgbClr val="21201C"/>
                </a:solidFill>
                <a:latin typeface="Calibri"/>
              </a:rPr>
              <a:t>•  12 red salaries.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THEME · TABLES, TRACKERS &amp; CONDITIONAL FORMATTING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Build a Colour-Coded Interview Tracker from Unstructured Notes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5</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The recruiters typed this week's interview notes as free text. You will ask Gemini to turn them into a structured table, refine it before inserting, and make it a working tracker with Status and Outcome dropdowns and a Reference_Checked checkbox. Conditional-formatting actions colour-code the tracker and flag the shortlist: top screening scores, salaries above budget and long notice periods. You will edit a rule with Settings, run a multi-step clean-up prompt, and create an onboarding checklist from scratch.</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OrchidBay_Interview_Tracker with an Interview_Tracker tab (12 interviews, dropdowns, checkboxes, colour-coded Status), a flagged Shortlist tab and a new Onboarding_Checklist tab</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Notes to table</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Dropdowns &amp; checkboxes</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Colour-code</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Flag the shortlist</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Multi-step clean-up</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Google Sheets · Gemini (create tables, Insert, dropdown, checkbox and conditional-formatting actions, Settings) · OrchidBay_Interview_Tracker.xlsx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5</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Table:  </a:t>
            </a:r>
            <a:r>
              <a:rPr sz="1200" b="0">
                <a:solidFill>
                  <a:srgbClr val="21201C"/>
                </a:solidFill>
                <a:latin typeface="Calibri"/>
              </a:rPr>
              <a:t>Create a table of interview questions for a Data Analyst, with columns Question, Skill tested and What a good answer includes.</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drafts a structured interview guide you can insert and reuse.</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Dropdown:  </a:t>
            </a:r>
            <a:r>
              <a:rPr sz="1200" b="0">
                <a:solidFill>
                  <a:srgbClr val="21201C"/>
                </a:solidFill>
                <a:latin typeface="Calibri"/>
              </a:rPr>
              <a:t>Convert the Recruiter column on the Shortlist tab to a dropdown with values from the same column.</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Turns an existing column into a dropdown of its own values.</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Highlight:  </a:t>
            </a:r>
            <a:r>
              <a:rPr sz="1200" b="0">
                <a:solidFill>
                  <a:srgbClr val="21201C"/>
                </a:solidFill>
                <a:latin typeface="Calibri"/>
              </a:rPr>
              <a:t>Highlight the Shortlist rows where Stage is Offered in light purple.</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Another row-highlight rule - check the count with COUNTIF.</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Freeze:  </a:t>
            </a:r>
            <a:r>
              <a:rPr sz="1200" b="0">
                <a:solidFill>
                  <a:srgbClr val="21201C"/>
                </a:solidFill>
                <a:latin typeface="Calibri"/>
              </a:rPr>
              <a:t>Freeze the top row and the first two columns of the Shortlist tab.</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freeze action keeps IDs and names visible as you scroll right.</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Help:  </a:t>
            </a:r>
            <a:r>
              <a:rPr sz="1200" b="0">
                <a:solidFill>
                  <a:srgbClr val="21201C"/>
                </a:solidFill>
                <a:latin typeface="Calibri"/>
              </a:rPr>
              <a:t>Teach me how to use conditional formatting with a custom formula.</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explains custom-formula rules in Format &gt; Conditional formatting, step by step.</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5</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Interview_Tracker</a:t>
            </a:r>
          </a:p>
          <a:p>
            <a:pPr algn="l">
              <a:spcAft>
                <a:spcPts val="300"/>
              </a:spcAft>
            </a:pPr>
            <a:r>
              <a:rPr sz="1300" b="0">
                <a:solidFill>
                  <a:srgbClr val="6B6862"/>
                </a:solidFill>
                <a:latin typeface="Calibri"/>
              </a:rPr>
              <a:t>12 rows; Completed 5, Scheduled 3, Rescheduled 2, No-show 2.</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Tracker controls</a:t>
            </a:r>
          </a:p>
          <a:p>
            <a:pPr algn="l">
              <a:spcAft>
                <a:spcPts val="300"/>
              </a:spcAft>
            </a:pPr>
            <a:r>
              <a:rPr sz="1300" b="0">
                <a:solidFill>
                  <a:srgbClr val="6B6862"/>
                </a:solidFill>
                <a:latin typeface="Calibri"/>
              </a:rPr>
              <a:t>Status and Outcome dropdowns work; Reference_Checked has checkboxes; Status is colour-coded.</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Shortlist flags</a:t>
            </a:r>
          </a:p>
          <a:p>
            <a:pPr algn="l">
              <a:spcAft>
                <a:spcPts val="300"/>
              </a:spcAft>
            </a:pPr>
            <a:r>
              <a:rPr sz="1300" b="0">
                <a:solidFill>
                  <a:srgbClr val="6B6862"/>
                </a:solidFill>
                <a:latin typeface="Calibri"/>
              </a:rPr>
              <a:t>11 green rows at 85, then 21 after editing the rule to 80; 12 salaries in bold red; Interview_Score has a colour scale.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Multi-step</a:t>
            </a:r>
          </a:p>
          <a:p>
            <a:pPr algn="l">
              <a:spcAft>
                <a:spcPts val="300"/>
              </a:spcAft>
            </a:pPr>
            <a:r>
              <a:rPr sz="1300" b="0">
                <a:solidFill>
                  <a:srgbClr val="6B6862"/>
                </a:solidFill>
                <a:latin typeface="Calibri"/>
              </a:rPr>
              <a:t>Stage dropdown, Notice_End dates, Contacted checkboxes; 5 light-orange rows.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Onboarding_Checklist</a:t>
            </a:r>
          </a:p>
          <a:p>
            <a:pPr algn="l">
              <a:spcAft>
                <a:spcPts val="300"/>
              </a:spcAft>
            </a:pPr>
            <a:r>
              <a:rPr sz="1300" b="0">
                <a:solidFill>
                  <a:srgbClr val="6B6862"/>
                </a:solidFill>
                <a:latin typeface="Calibri"/>
              </a:rPr>
              <a:t>13 tasks (10 + 3 IT tasks) with a Done checkbox column.</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AI Function (=AI)</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=AI("prompt", range) in a cell: generate, summarise, categorise, or search - row by row.</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Free text becomes columns you can filter and count - once you have measured the accuracy.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How many AI answers match the recorded values?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Gemini — The AI Function (=AI)</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TYPE IN A CELL</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=AI("Extract the notice period in weeks. Output only the number.", D2)</a:t>
            </a:r>
          </a:p>
          <a:p>
            <a:pPr>
              <a:spcAft>
                <a:spcPts val="1000"/>
              </a:spcAft>
            </a:pPr>
            <a:r>
              <a:rPr sz="1600" b="0">
                <a:solidFill>
                  <a:srgbClr val="21201C"/>
                </a:solidFill>
                <a:latin typeface="Calibri"/>
              </a:rPr>
              <a:t>•  =AI("Classify this feedback as Positive, Mixed or Negative.", E2)</a:t>
            </a:r>
          </a:p>
          <a:p>
            <a:pPr>
              <a:spcAft>
                <a:spcPts val="1000"/>
              </a:spcAft>
            </a:pPr>
            <a:r>
              <a:rPr sz="1600" b="0">
                <a:solidFill>
                  <a:srgbClr val="21201C"/>
                </a:solidFill>
                <a:latin typeface="Calibri"/>
              </a:rPr>
              <a:t>•  Select the cells &gt; Generate and insert.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Notice matches near 30/30.</a:t>
            </a:r>
          </a:p>
          <a:p>
            <a:pPr>
              <a:spcAft>
                <a:spcPts val="1000"/>
              </a:spcAft>
            </a:pPr>
            <a:r>
              <a:rPr sz="1600" b="0">
                <a:solidFill>
                  <a:srgbClr val="21201C"/>
                </a:solidFill>
                <a:latin typeface="Calibri"/>
              </a:rPr>
              <a:t>•  Sentiment split vs Answer_Key.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AI Function in Google Sheets</a:t>
            </a:r>
          </a:p>
        </p:txBody>
      </p:sp>
      <p:sp>
        <p:nvSpPr>
          <p:cNvPr id="5" name="Rectangle 4"/>
          <p:cNvSpPr/>
          <p:nvPr/>
        </p:nvSpPr>
        <p:spPr>
          <a:xfrm>
            <a:off x="731520" y="1737360"/>
            <a:ext cx="5180076" cy="3259115"/>
          </a:xfrm>
          <a:prstGeom prst="rect">
            <a:avLst/>
          </a:prstGeom>
          <a:solidFill>
            <a:srgbClr val="DCD8CF"/>
          </a:solidFill>
          <a:ln>
            <a:noFill/>
          </a:ln>
          <a:effectLst/>
        </p:spPr>
        <p:txBody>
          <a:bodyPr rtlCol="0" anchor="ctr"/>
          <a:lstStyle/>
          <a:p>
            <a:pPr algn="ctr"/>
          </a:p>
        </p:txBody>
      </p:sp>
      <p:pic>
        <p:nvPicPr>
          <p:cNvPr id="6" name="Picture 5" descr="ai-function-formula.png"/>
          <p:cNvPicPr>
            <a:picLocks noChangeAspect="1"/>
          </p:cNvPicPr>
          <p:nvPr/>
        </p:nvPicPr>
        <p:blipFill>
          <a:blip r:embed="rId2"/>
          <a:stretch>
            <a:fillRect/>
          </a:stretch>
        </p:blipFill>
        <p:spPr>
          <a:xfrm>
            <a:off x="777240" y="1783080"/>
            <a:ext cx="5088635" cy="3167675"/>
          </a:xfrm>
          <a:prstGeom prst="rect">
            <a:avLst/>
          </a:prstGeom>
        </p:spPr>
      </p:pic>
      <p:sp>
        <p:nvSpPr>
          <p:cNvPr id="7" name="TextBox 6"/>
          <p:cNvSpPr txBox="1"/>
          <p:nvPr/>
        </p:nvSpPr>
        <p:spPr>
          <a:xfrm>
            <a:off x="777240" y="5060483"/>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Type the =AI formula</a:t>
            </a:r>
          </a:p>
          <a:p>
            <a:pPr algn="ctr">
              <a:spcAft>
                <a:spcPts val="200"/>
              </a:spcAft>
            </a:pPr>
            <a:r>
              <a:rPr sz="1200" b="0">
                <a:solidFill>
                  <a:srgbClr val="6B6862"/>
                </a:solidFill>
                <a:latin typeface="Calibri"/>
              </a:rPr>
              <a:t>A prompt plus the cells it should use.</a:t>
            </a:r>
          </a:p>
        </p:txBody>
      </p:sp>
      <p:sp>
        <p:nvSpPr>
          <p:cNvPr id="8" name="Rectangle 7"/>
          <p:cNvSpPr/>
          <p:nvPr/>
        </p:nvSpPr>
        <p:spPr>
          <a:xfrm>
            <a:off x="6277356" y="1737360"/>
            <a:ext cx="5180076" cy="3259115"/>
          </a:xfrm>
          <a:prstGeom prst="rect">
            <a:avLst/>
          </a:prstGeom>
          <a:solidFill>
            <a:srgbClr val="DCD8CF"/>
          </a:solidFill>
          <a:ln>
            <a:noFill/>
          </a:ln>
          <a:effectLst/>
        </p:spPr>
        <p:txBody>
          <a:bodyPr rtlCol="0" anchor="ctr"/>
          <a:lstStyle/>
          <a:p>
            <a:pPr algn="ctr"/>
          </a:p>
        </p:txBody>
      </p:sp>
      <p:pic>
        <p:nvPicPr>
          <p:cNvPr id="9" name="Picture 8" descr="ai-function-results.png"/>
          <p:cNvPicPr>
            <a:picLocks noChangeAspect="1"/>
          </p:cNvPicPr>
          <p:nvPr/>
        </p:nvPicPr>
        <p:blipFill>
          <a:blip r:embed="rId3"/>
          <a:stretch>
            <a:fillRect/>
          </a:stretch>
        </p:blipFill>
        <p:spPr>
          <a:xfrm>
            <a:off x="6323076" y="1783080"/>
            <a:ext cx="5088635" cy="3167675"/>
          </a:xfrm>
          <a:prstGeom prst="rect">
            <a:avLst/>
          </a:prstGeom>
        </p:spPr>
      </p:pic>
      <p:sp>
        <p:nvSpPr>
          <p:cNvPr id="10" name="TextBox 9"/>
          <p:cNvSpPr txBox="1"/>
          <p:nvPr/>
        </p:nvSpPr>
        <p:spPr>
          <a:xfrm>
            <a:off x="6323076" y="5060483"/>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Generate and insert</a:t>
            </a:r>
          </a:p>
          <a:p>
            <a:pPr algn="ctr">
              <a:spcAft>
                <a:spcPts val="200"/>
              </a:spcAft>
            </a:pPr>
            <a:r>
              <a:rPr sz="1200" b="0">
                <a:solidFill>
                  <a:srgbClr val="6B6862"/>
                </a:solidFill>
                <a:latin typeface="Calibri"/>
              </a:rPr>
              <a:t>Gemini fills every selected AI cell.</a:t>
            </a:r>
          </a:p>
        </p:txBody>
      </p:sp>
      <p:sp>
        <p:nvSpPr>
          <p:cNvPr id="11" name="TextBox 10"/>
          <p:cNvSpPr txBox="1"/>
          <p:nvPr/>
        </p:nvSpPr>
        <p:spPr>
          <a:xfrm>
            <a:off x="777240" y="6053328"/>
            <a:ext cx="10634472" cy="320040"/>
          </a:xfrm>
          <a:prstGeom prst="rect">
            <a:avLst/>
          </a:prstGeom>
          <a:noFill/>
        </p:spPr>
        <p:txBody>
          <a:bodyPr wrap="square" anchor="t">
            <a:spAutoFit/>
          </a:bodyPr>
          <a:lstStyle/>
          <a:p>
            <a:pPr algn="ctr">
              <a:spcAft>
                <a:spcPts val="400"/>
              </a:spcAft>
            </a:pPr>
            <a:r>
              <a:rPr sz="1100" b="0">
                <a:solidFill>
                  <a:srgbClr val="6B6862"/>
                </a:solidFill>
                <a:latin typeface="Calibri"/>
              </a:rPr>
              <a:t>Screenshot: Google Docs Editors Help - Collaborate with Gemini in Google Sheets</a:t>
            </a:r>
          </a:p>
        </p:txBody>
      </p:sp>
      <p:sp>
        <p:nvSpPr>
          <p:cNvPr id="12" name="TextBox 1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4" name="TextBox 1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Fill with Gemini and AI Columns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Type an example in I2, select I2:I31 &gt; Fill.</a:t>
            </a:r>
          </a:p>
          <a:p>
            <a:pPr>
              <a:spcAft>
                <a:spcPts val="1000"/>
              </a:spcAft>
            </a:pPr>
            <a:r>
              <a:rPr sz="1600" b="0">
                <a:solidFill>
                  <a:srgbClr val="21201C"/>
                </a:solidFill>
                <a:latin typeface="Calibri"/>
              </a:rPr>
              <a:t>•  Group the Interview_Feedback into themes and count each.</a:t>
            </a:r>
          </a:p>
          <a:p>
            <a:pPr>
              <a:spcAft>
                <a:spcPts val="1000"/>
              </a:spcAft>
            </a:pPr>
            <a:r>
              <a:rPr sz="1600" b="0">
                <a:solidFill>
                  <a:srgbClr val="21201C"/>
                </a:solidFill>
                <a:latin typeface="Calibri"/>
              </a:rPr>
              <a:t>•  Do any summaries mention personal characteristics?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I2:I31 filled.</a:t>
            </a:r>
          </a:p>
          <a:p>
            <a:pPr>
              <a:spcAft>
                <a:spcPts val="1000"/>
              </a:spcAft>
            </a:pPr>
            <a:r>
              <a:rPr sz="1600" b="0">
                <a:solidFill>
                  <a:srgbClr val="21201C"/>
                </a:solidFill>
                <a:latin typeface="Calibri"/>
              </a:rPr>
              <a:t>•  Theme counts add up to 30.</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THEME · AI FUNCTION &amp; FILL WITH GEMINI</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Extract and Categorise Candidate Text with the AI Function</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6</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Hiring managers want a quick read of 30 shortlisted candidates, but the details are buried in free text. You will type =AI formulas that extract the notice period in weeks, classify each interview feedback as Positive, Mixed or Negative, and write a one-line summary that leaves out personal characteristics. You will generate the outputs, compare them with an answer key using formulas, use Fill with Gemini for a skills column, and ask the side panel to group the feedback into themes.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OrchidBay_Candidate_Profiles with AI-filled Notice_Weeks_AI, Feedback_Sentiment_AI, Manager_Summary_AI and Top_Skills columns, a Checks tab measuring accuracy, and an inserted feedback-themes table</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Extract</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Categorise</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Summarise</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Measure accuracy</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Fill &amp; group</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Google Sheets · AI function (=AI, Generate and insert) · Fill with Gemini · Gemini side panel · OrchidBay_Candidate_Profiles.xlsx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6</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AI function:  </a:t>
            </a:r>
            <a:r>
              <a:rPr sz="1200" b="0">
                <a:solidFill>
                  <a:srgbClr val="21201C"/>
                </a:solidFill>
                <a:latin typeface="Calibri"/>
              </a:rPr>
              <a:t>=AI("Does this candidate mention SQL? Answer Yes or No.", D2)</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yes/no extraction - easy to check with SEARCH or REGEXMATCH.</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AI function:  </a:t>
            </a:r>
            <a:r>
              <a:rPr sz="1200" b="0">
                <a:solidFill>
                  <a:srgbClr val="21201C"/>
                </a:solidFill>
                <a:latin typeface="Calibri"/>
              </a:rPr>
              <a:t>=AI("Write a polite two-sentence email inviting this candidate to a second interview.", B2:C2)</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Generates text from two cells - always read it before sending anything.</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Categorise:  </a:t>
            </a:r>
            <a:r>
              <a:rPr sz="1200" b="0">
                <a:solidFill>
                  <a:srgbClr val="21201C"/>
                </a:solidFill>
                <a:latin typeface="Calibri"/>
              </a:rPr>
              <a:t>=AI("Classify the seniority of this candidate as Junior, Mid or Senior based on years of experience.", D2)</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Categorises into your own definitions; give the definitions in the prompt for consistent results.</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Side panel:  </a:t>
            </a:r>
            <a:r>
              <a:rPr sz="1200" b="0">
                <a:solidFill>
                  <a:srgbClr val="21201C"/>
                </a:solidFill>
                <a:latin typeface="Calibri"/>
              </a:rPr>
              <a:t>Which five candidates have the most positive feedback? Show their names and positions.</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The side panel answers across all 30 rows at once.</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Side panel:  </a:t>
            </a:r>
            <a:r>
              <a:rPr sz="1200" b="0">
                <a:solidFill>
                  <a:srgbClr val="21201C"/>
                </a:solidFill>
                <a:latin typeface="Calibri"/>
              </a:rPr>
              <a:t>Summarise the main concerns interviewers raised, with the number of candidates for each.</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Turns free text into counted themes you can act on.</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6</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Notice_Weeks_AI</a:t>
            </a:r>
          </a:p>
          <a:p>
            <a:pPr algn="l">
              <a:spcAft>
                <a:spcPts val="300"/>
              </a:spcAft>
            </a:pPr>
            <a:r>
              <a:rPr sz="1300" b="0">
                <a:solidFill>
                  <a:srgbClr val="6B6862"/>
                </a:solidFill>
                <a:latin typeface="Calibri"/>
              </a:rPr>
              <a:t>30 numbers; row 2 = 0; Notice matches close to 30 (recorded: 8 candidates with 8+ weeks).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Feedback_Sentiment_AI</a:t>
            </a:r>
          </a:p>
          <a:p>
            <a:pPr algn="l">
              <a:spcAft>
                <a:spcPts val="300"/>
              </a:spcAft>
            </a:pPr>
            <a:r>
              <a:rPr sz="1300" b="0">
                <a:solidFill>
                  <a:srgbClr val="6B6862"/>
                </a:solidFill>
                <a:latin typeface="Calibri"/>
              </a:rPr>
              <a:t>Recorded split Positive 9, Mixed 16, Negative 5; your Sentiment matches count shows how many agree.</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Manager_Summary_AI</a:t>
            </a:r>
          </a:p>
          <a:p>
            <a:pPr algn="l">
              <a:spcAft>
                <a:spcPts val="300"/>
              </a:spcAft>
            </a:pPr>
            <a:r>
              <a:rPr sz="1300" b="0">
                <a:solidFill>
                  <a:srgbClr val="6B6862"/>
                </a:solidFill>
                <a:latin typeface="Calibri"/>
              </a:rPr>
              <a:t>H2:H6 filled with one sentence each and no personal characteristics.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Top_Skills</a:t>
            </a:r>
          </a:p>
          <a:p>
            <a:pPr algn="l">
              <a:spcAft>
                <a:spcPts val="300"/>
              </a:spcAft>
            </a:pPr>
            <a:r>
              <a:rPr sz="1300" b="0">
                <a:solidFill>
                  <a:srgbClr val="6B6862"/>
                </a:solidFill>
                <a:latin typeface="Calibri"/>
              </a:rPr>
              <a:t>I2:I31 filled by Fill with Gemini (or =AI), following your example in I2.</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Feedback_Themes</a:t>
            </a:r>
          </a:p>
          <a:p>
            <a:pPr algn="l">
              <a:spcAft>
                <a:spcPts val="300"/>
              </a:spcAft>
            </a:pPr>
            <a:r>
              <a:rPr sz="1300" b="0">
                <a:solidFill>
                  <a:srgbClr val="6B6862"/>
                </a:solidFill>
                <a:latin typeface="Calibri"/>
              </a:rPr>
              <a:t>An inserted themes table whose counts add up to 30.</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Data Analysis and Insights with Gemini</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Ask questions of the data: trends, comparisons, rates. Analysis steps shows the working.</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first answer in seconds - made defensible with a formula check.</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Which number in Gemini's insight did you confirm with COUNTIFS?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Gemini — Data Analysis and Insights with Gemini</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What analysis can you help me perform with this sheet?</a:t>
            </a:r>
          </a:p>
          <a:p>
            <a:pPr>
              <a:spcAft>
                <a:spcPts val="1000"/>
              </a:spcAft>
            </a:pPr>
            <a:r>
              <a:rPr sz="1600" b="0">
                <a:solidFill>
                  <a:srgbClr val="21201C"/>
                </a:solidFill>
                <a:latin typeface="Calibri"/>
              </a:rPr>
              <a:t>•  Identify trends in applications by Month.</a:t>
            </a:r>
          </a:p>
          <a:p>
            <a:pPr>
              <a:spcAft>
                <a:spcPts val="1000"/>
              </a:spcAft>
            </a:pPr>
            <a:r>
              <a:rPr sz="1600" b="0">
                <a:solidFill>
                  <a:srgbClr val="21201C"/>
                </a:solidFill>
                <a:latin typeface="Calibri"/>
              </a:rPr>
              <a:t>•  Which Source has the best hire rate?</a:t>
            </a:r>
          </a:p>
          <a:p>
            <a:pPr>
              <a:spcAft>
                <a:spcPts val="1000"/>
              </a:spcAft>
            </a:pPr>
            <a:r>
              <a:rPr sz="1600" b="0">
                <a:solidFill>
                  <a:srgbClr val="21201C"/>
                </a:solidFill>
                <a:latin typeface="Calibri"/>
              </a:rPr>
              <a:t>•  Export to Docs.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Peak June 98.</a:t>
            </a:r>
          </a:p>
          <a:p>
            <a:pPr>
              <a:spcAft>
                <a:spcPts val="1000"/>
              </a:spcAft>
            </a:pPr>
            <a:r>
              <a:rPr sz="1600" b="0">
                <a:solidFill>
                  <a:srgbClr val="21201C"/>
                </a:solidFill>
                <a:latin typeface="Calibri"/>
              </a:rPr>
              <a:t>•  Referral 12.8%.</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Gemini Analysis Response</a:t>
            </a:r>
          </a:p>
        </p:txBody>
      </p:sp>
      <p:sp>
        <p:nvSpPr>
          <p:cNvPr id="5" name="Rectangle 4"/>
          <p:cNvSpPr/>
          <p:nvPr/>
        </p:nvSpPr>
        <p:spPr>
          <a:xfrm>
            <a:off x="2837744" y="1792224"/>
            <a:ext cx="6516207" cy="4224528"/>
          </a:xfrm>
          <a:prstGeom prst="rect">
            <a:avLst/>
          </a:prstGeom>
          <a:solidFill>
            <a:srgbClr val="DCD8CF"/>
          </a:solidFill>
          <a:ln>
            <a:noFill/>
          </a:ln>
          <a:effectLst/>
        </p:spPr>
        <p:txBody>
          <a:bodyPr rtlCol="0" anchor="ctr"/>
          <a:lstStyle/>
          <a:p>
            <a:pPr algn="ctr"/>
          </a:p>
        </p:txBody>
      </p:sp>
      <p:pic>
        <p:nvPicPr>
          <p:cNvPr id="6" name="Picture 5" descr="gemini-chart-response.png"/>
          <p:cNvPicPr>
            <a:picLocks noChangeAspect="1"/>
          </p:cNvPicPr>
          <p:nvPr/>
        </p:nvPicPr>
        <p:blipFill>
          <a:blip r:embed="rId2"/>
          <a:stretch>
            <a:fillRect/>
          </a:stretch>
        </p:blipFill>
        <p:spPr>
          <a:xfrm>
            <a:off x="2892608" y="1847088"/>
            <a:ext cx="6406480" cy="4114800"/>
          </a:xfrm>
          <a:prstGeom prst="rect">
            <a:avLst/>
          </a:prstGeom>
        </p:spPr>
      </p:pic>
      <p:sp>
        <p:nvSpPr>
          <p:cNvPr id="7" name="TextBox 6"/>
          <p:cNvSpPr txBox="1"/>
          <p:nvPr/>
        </p:nvSpPr>
        <p:spPr>
          <a:xfrm>
            <a:off x="777240" y="6053328"/>
            <a:ext cx="10607040" cy="365760"/>
          </a:xfrm>
          <a:prstGeom prst="rect">
            <a:avLst/>
          </a:prstGeom>
          <a:noFill/>
        </p:spPr>
        <p:txBody>
          <a:bodyPr wrap="square" anchor="t">
            <a:spAutoFit/>
          </a:bodyPr>
          <a:lstStyle/>
          <a:p>
            <a:pPr algn="ctr">
              <a:spcAft>
                <a:spcPts val="400"/>
              </a:spcAft>
            </a:pPr>
            <a:r>
              <a:rPr sz="1200" b="0">
                <a:solidFill>
                  <a:srgbClr val="6B6862"/>
                </a:solidFill>
                <a:latin typeface="Calibri"/>
              </a:rPr>
              <a:t>Analysis steps, Insert, Preview, Copy, Sources, Export to Docs and feedback.   Screenshot: Google Docs Editors Help - Collaborate with Gemini in Google Sheets</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Pivot Tables with Gemini</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 THEN APPLY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Create a pivot table: count of Candidate_ID, Source in rows, Stage in columns.</a:t>
            </a:r>
          </a:p>
          <a:p>
            <a:pPr>
              <a:spcAft>
                <a:spcPts val="1000"/>
              </a:spcAft>
            </a:pPr>
            <a:r>
              <a:rPr sz="1600" b="0">
                <a:solidFill>
                  <a:srgbClr val="21201C"/>
                </a:solidFill>
                <a:latin typeface="Calibri"/>
              </a:rPr>
              <a:t>•  Click Settings to add a filter.</a:t>
            </a:r>
          </a:p>
          <a:p>
            <a:pPr>
              <a:spcAft>
                <a:spcPts val="1000"/>
              </a:spcAft>
            </a:pPr>
            <a:r>
              <a:rPr sz="1600" b="0">
                <a:solidFill>
                  <a:srgbClr val="21201C"/>
                </a:solidFill>
                <a:latin typeface="Calibri"/>
              </a:rPr>
              <a:t>•  =COUNTIFS(... "LinkedIn" ... "Hired")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Grand total 720.</a:t>
            </a:r>
          </a:p>
          <a:p>
            <a:pPr>
              <a:spcAft>
                <a:spcPts val="1000"/>
              </a:spcAft>
            </a:pPr>
            <a:r>
              <a:rPr sz="1600" b="0">
                <a:solidFill>
                  <a:srgbClr val="21201C"/>
                </a:solidFill>
                <a:latin typeface="Calibri"/>
              </a:rPr>
              <a:t>•  LinkedIn Hired 11.</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THEME · DATA ANALYSIS &amp; INSIGHTS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Generate Hiring Insights and Pivot Tables with Gemini</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7</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Orchid Bay's Head of Talent wants to know how 2026 hiring is going. Using all 720 applications from January to September, you will ask Gemini what analysis is possible, find the monthly trend, compare sources by hire rate and cost per hire, and find which role takes longest to fill. You will open Analysis steps to see how Gemini calculated, create pivot tables with Gemini actions and adjust them with Settings, check every figure with COUNTIFS or AVERAGEIFS, and export five insights to a Google Doc.</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OrchidBay_Hiring_2026_YTD with two pivot tables (source by stage, days to hire by position), a Checks area of formulas, and a Google Doc of insights exported from Gemini</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Explore</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Trends</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Compare sources</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Pivot tables</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Export insights</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Google Sheets · Gemini data analysis (Analysis steps, Export to Docs) · pivot-table actions · OrchidBay_Hiring_2026_YTD.xlsx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7</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Trend:  </a:t>
            </a:r>
            <a:r>
              <a:rPr sz="1200" b="0">
                <a:solidFill>
                  <a:srgbClr val="21201C"/>
                </a:solidFill>
                <a:latin typeface="Calibri"/>
              </a:rPr>
              <a:t>How did the number of hires change from Q1 to Q2 to Q3 2026?</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Groups months into quarters - check it with COUNTIFS on Month.</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Compare:  </a:t>
            </a:r>
            <a:r>
              <a:rPr sz="1200" b="0">
                <a:solidFill>
                  <a:srgbClr val="21201C"/>
                </a:solidFill>
                <a:latin typeface="Calibri"/>
              </a:rPr>
              <a:t>Compare the average Screening_Score of hired and rejected candidates.</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Compares two groups on one measure - is screening predicting who gets hired?</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Pivot:  </a:t>
            </a:r>
            <a:r>
              <a:rPr sz="1200" b="0">
                <a:solidFill>
                  <a:srgbClr val="21201C"/>
                </a:solidFill>
                <a:latin typeface="Calibri"/>
              </a:rPr>
              <a:t>Create a pivot table that shows the number of hires by Recruiter and Month.</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two-dimensional pivot table, created and adjustable with Settings.</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Regression:  </a:t>
            </a:r>
            <a:r>
              <a:rPr sz="1200" b="0">
                <a:solidFill>
                  <a:srgbClr val="21201C"/>
                </a:solidFill>
                <a:latin typeface="Calibri"/>
              </a:rPr>
              <a:t>How can I show regression and prediction of monthly applications?</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explains trend lines and forecasting - treat any prediction as an estimate.</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Explain:  </a:t>
            </a:r>
            <a:r>
              <a:rPr sz="1200" b="0">
                <a:solidFill>
                  <a:srgbClr val="21201C"/>
                </a:solidFill>
                <a:latin typeface="Calibri"/>
              </a:rPr>
              <a:t>Explain this analysis like I'm a hiring manager with no data background.</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Asks Gemini to rewrite the same findings for a different audience.</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7</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Trend</a:t>
            </a:r>
          </a:p>
          <a:p>
            <a:pPr algn="l">
              <a:spcAft>
                <a:spcPts val="300"/>
              </a:spcAft>
            </a:pPr>
            <a:r>
              <a:rPr sz="1300" b="0">
                <a:solidFill>
                  <a:srgbClr val="6B6862"/>
                </a:solidFill>
                <a:latin typeface="Calibri"/>
              </a:rPr>
              <a:t>Peak June 2026 (98 applications); lowest February (62).</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Sources</a:t>
            </a:r>
          </a:p>
          <a:p>
            <a:pPr algn="l">
              <a:spcAft>
                <a:spcPts val="300"/>
              </a:spcAft>
            </a:pPr>
            <a:r>
              <a:rPr sz="1300" b="0">
                <a:solidFill>
                  <a:srgbClr val="6B6862"/>
                </a:solidFill>
                <a:latin typeface="Calibri"/>
              </a:rPr>
              <a:t>Best hire rate Referral 12.8%; most hires LinkedIn (11); 41 hires in total.</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Pivot 1</a:t>
            </a:r>
          </a:p>
          <a:p>
            <a:pPr algn="l">
              <a:spcAft>
                <a:spcPts val="300"/>
              </a:spcAft>
            </a:pPr>
            <a:r>
              <a:rPr sz="1300" b="0">
                <a:solidFill>
                  <a:srgbClr val="6B6862"/>
                </a:solidFill>
                <a:latin typeface="Calibri"/>
              </a:rPr>
              <a:t>Source x Stage; LinkedIn Hired 11, Rejected 147; grand total 720.</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Pivot 2</a:t>
            </a:r>
          </a:p>
          <a:p>
            <a:pPr algn="l">
              <a:spcAft>
                <a:spcPts val="300"/>
              </a:spcAft>
            </a:pPr>
            <a:r>
              <a:rPr sz="1300" b="0">
                <a:solidFill>
                  <a:srgbClr val="6B6862"/>
                </a:solidFill>
                <a:latin typeface="Calibri"/>
              </a:rPr>
              <a:t>HR Executive slowest at 39.3 days; AVERAGEIFS matches.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Cost per hire</a:t>
            </a:r>
          </a:p>
          <a:p>
            <a:pPr algn="l">
              <a:spcAft>
                <a:spcPts val="300"/>
              </a:spcAft>
            </a:pPr>
            <a:r>
              <a:rPr sz="1300" b="0">
                <a:solidFill>
                  <a:srgbClr val="6B6862"/>
                </a:solidFill>
                <a:latin typeface="Calibri"/>
              </a:rPr>
              <a:t>Cheapest Company Website S$125; dearest Career Fair S$1,540; insights exported to a Google Doc.</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Charts and Graphs with Gemini</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Describe the chart; Preview, then Insert. Gemini adds a new tab with the chart and its data.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good chart makes the finding obvious - and its title should say it.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Does the title state the finding, not just the measure?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Gemini — Charts and Graphs with Gemini</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 THEN INSERT</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Create a line chart with Month on the x-axis and applications on the y-axis.</a:t>
            </a:r>
          </a:p>
          <a:p>
            <a:pPr>
              <a:spcAft>
                <a:spcPts val="1000"/>
              </a:spcAft>
            </a:pPr>
            <a:r>
              <a:rPr sz="1600" b="0">
                <a:solidFill>
                  <a:srgbClr val="21201C"/>
                </a:solidFill>
                <a:latin typeface="Calibri"/>
              </a:rPr>
              <a:t>•  Make a bar chart of hires by Source, sorted from most to fewest.</a:t>
            </a:r>
          </a:p>
          <a:p>
            <a:pPr>
              <a:spcAft>
                <a:spcPts val="1000"/>
              </a:spcAft>
            </a:pPr>
            <a:r>
              <a:rPr sz="1600" b="0">
                <a:solidFill>
                  <a:srgbClr val="21201C"/>
                </a:solidFill>
                <a:latin typeface="Calibri"/>
              </a:rPr>
              <a:t>•  Suggest a title for each chart that states the main finding.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Peak June 98.</a:t>
            </a:r>
          </a:p>
          <a:p>
            <a:pPr>
              <a:spcAft>
                <a:spcPts val="1000"/>
              </a:spcAft>
            </a:pPr>
            <a:r>
              <a:rPr sz="1600" b="0">
                <a:solidFill>
                  <a:srgbClr val="21201C"/>
                </a:solidFill>
                <a:latin typeface="Calibri"/>
              </a:rPr>
              <a:t>•  Funnel 720/61/47/41.</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Inserted vs Linked Charts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Will the chart you inserted update if I change the Applications tab?</a:t>
            </a:r>
          </a:p>
          <a:p>
            <a:pPr>
              <a:spcAft>
                <a:spcPts val="1000"/>
              </a:spcAft>
            </a:pPr>
            <a:r>
              <a:rPr sz="1600" b="0">
                <a:solidFill>
                  <a:srgbClr val="21201C"/>
                </a:solidFill>
                <a:latin typeface="Calibri"/>
              </a:rPr>
              <a:t>•  Create a pivot table that counts Candidate_ID by Month.</a:t>
            </a:r>
          </a:p>
          <a:p>
            <a:pPr>
              <a:spcAft>
                <a:spcPts val="1000"/>
              </a:spcAft>
            </a:pPr>
            <a:r>
              <a:rPr sz="1600" b="0">
                <a:solidFill>
                  <a:srgbClr val="21201C"/>
                </a:solidFill>
                <a:latin typeface="Calibri"/>
              </a:rPr>
              <a:t>•  Then Insert &gt; Chart on the pivot table.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Inserted chart unchanged.</a:t>
            </a:r>
          </a:p>
          <a:p>
            <a:pPr>
              <a:spcAft>
                <a:spcPts val="1000"/>
              </a:spcAft>
            </a:pPr>
            <a:r>
              <a:rPr sz="1600" b="0">
                <a:solidFill>
                  <a:srgbClr val="21201C"/>
                </a:solidFill>
                <a:latin typeface="Calibri"/>
              </a:rPr>
              <a:t>•  Pivot chart updated.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THEME · CHARTS &amp; VISUALISATION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Build Charts That Tell the Hiring Story</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8</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Now you show the findings from Lab 7. You will ask Gemini to create charts - a monthly trend line, hires by source and the hiring funnel - preview them and insert them. Each inserted chart lands on a new tab with its own copy of the data, so it does not update when Applications changes. You will prove that, then build a linked chart from a pivot table that does update. A cost-per-hire chart combines two tabs, and you will rewrite every title to state its finding and add alt text.</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OrchidBay_Hiring_Charts with four inserted Gemini charts, one linked chart built from a pivot table, finding-based titles and alt text</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Trend chart</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Source &amp; funnel</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Static vs linked</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Cost chart</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Titles &amp; alt text</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Google Sheets · Gemini charts (Preview, Insert, Copy chart) · pivot table · Chart editor · OrchidBay_Hiring_Charts.xlsx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8</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Pie:  </a:t>
            </a:r>
            <a:r>
              <a:rPr sz="1200" b="0">
                <a:solidFill>
                  <a:srgbClr val="21201C"/>
                </a:solidFill>
                <a:latin typeface="Calibri"/>
              </a:rPr>
              <a:t>Create a pie chart of applications by Source.</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Shows each source's share - LinkedIn is 25.6% of applications. Pies suit a few categories only.</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Stacked:  </a:t>
            </a:r>
            <a:r>
              <a:rPr sz="1200" b="0">
                <a:solidFill>
                  <a:srgbClr val="21201C"/>
                </a:solidFill>
                <a:latin typeface="Calibri"/>
              </a:rPr>
              <a:t>Create a stacked column chart of applications by Month, split by Stage.</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Shows totals and the stage mix together.</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Combo:  </a:t>
            </a:r>
            <a:r>
              <a:rPr sz="1200" b="0">
                <a:solidFill>
                  <a:srgbClr val="21201C"/>
                </a:solidFill>
                <a:latin typeface="Calibri"/>
              </a:rPr>
              <a:t>Create a chart with applications as columns and hires as a line, by Month.</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Two measures on one chart - check that the two axes are labelled.</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Help:  </a:t>
            </a:r>
            <a:r>
              <a:rPr sz="1200" b="0">
                <a:solidFill>
                  <a:srgbClr val="21201C"/>
                </a:solidFill>
                <a:latin typeface="Calibri"/>
              </a:rPr>
              <a:t>What chart type is best to show the share of each source over time?</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as a chart adviser - it explains the trade-offs.</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Graph:  </a:t>
            </a:r>
            <a:r>
              <a:rPr sz="1200" b="0">
                <a:solidFill>
                  <a:srgbClr val="21201C"/>
                </a:solidFill>
                <a:latin typeface="Calibri"/>
              </a:rPr>
              <a:t>Create a graph that shows the percentage of applications that came from each Position.</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percentage chart - check the slices add up to 100%.</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8</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Trend chart</a:t>
            </a:r>
          </a:p>
          <a:p>
            <a:pPr algn="l">
              <a:spcAft>
                <a:spcPts val="300"/>
              </a:spcAft>
            </a:pPr>
            <a:r>
              <a:rPr sz="1300" b="0">
                <a:solidFill>
                  <a:srgbClr val="6B6862"/>
                </a:solidFill>
                <a:latin typeface="Calibri"/>
              </a:rPr>
              <a:t>Line chart on its own tab; peak June 98.</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Source and funnel</a:t>
            </a:r>
          </a:p>
          <a:p>
            <a:pPr algn="l">
              <a:spcAft>
                <a:spcPts val="300"/>
              </a:spcAft>
            </a:pPr>
            <a:r>
              <a:rPr sz="1300" b="0">
                <a:solidFill>
                  <a:srgbClr val="6B6862"/>
                </a:solidFill>
                <a:latin typeface="Calibri"/>
              </a:rPr>
              <a:t>Bars sorted; LinkedIn 11 first. Funnel 720 / 61 / 47 / 41.</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Static vs linked</a:t>
            </a:r>
          </a:p>
          <a:p>
            <a:pPr algn="l">
              <a:spcAft>
                <a:spcPts val="300"/>
              </a:spcAft>
            </a:pPr>
            <a:r>
              <a:rPr sz="1300" b="0">
                <a:solidFill>
                  <a:srgbClr val="6B6862"/>
                </a:solidFill>
                <a:latin typeface="Calibri"/>
              </a:rPr>
              <a:t>Inserted chart did not change after the Stage edit; the Month x Stage pivot chart did.</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Cost per hire</a:t>
            </a:r>
          </a:p>
          <a:p>
            <a:pPr algn="l">
              <a:spcAft>
                <a:spcPts val="300"/>
              </a:spcAft>
            </a:pPr>
            <a:r>
              <a:rPr sz="1300" b="0">
                <a:solidFill>
                  <a:srgbClr val="6B6862"/>
                </a:solidFill>
                <a:latin typeface="Calibri"/>
              </a:rPr>
              <a:t>Company Website S$125 lowest; Career Fair S$1,540 highest.</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Titles and alt text</a:t>
            </a:r>
          </a:p>
          <a:p>
            <a:pPr algn="l">
              <a:spcAft>
                <a:spcPts val="300"/>
              </a:spcAft>
            </a:pPr>
            <a:r>
              <a:rPr sz="1300" b="0">
                <a:solidFill>
                  <a:srgbClr val="6B6862"/>
                </a:solidFill>
                <a:latin typeface="Calibri"/>
              </a:rPr>
              <a:t>Every chart title states a finding; every chart has alt text.</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Data Analytics and Visualization</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Tables and trackers: Notes turned into a colour-coded tracker with dropdowns, checkboxes and editable rules.</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AI function: =AI extracts, categorises and summarises text; accuracy measured against an answer key.</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Analysis: Trends, rates and cost per hire with Analysis steps; pivot tables checked with COUNTIFS.</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LO2 · Charts: Inserted (static) and linked charts; titles that state the finding; alt text.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03</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Interactive Dashboard</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dropdown selectors and KPI formulas · linked charts, alerts and protection · Gems for repeatable screening · optimisation, reporting and responsible sharing</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Gemini for Google Sheet (C817)  ·  C817</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LABS 9-12</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Interactive Dashboard</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Selectors drive everything</a:t>
            </a:r>
          </a:p>
          <a:p>
            <a:pPr algn="l">
              <a:spcAft>
                <a:spcPts val="300"/>
              </a:spcAft>
            </a:pPr>
            <a:r>
              <a:rPr sz="1400" b="0">
                <a:solidFill>
                  <a:srgbClr val="6B6862"/>
                </a:solidFill>
                <a:latin typeface="Calibri"/>
              </a:rPr>
              <a:t>Dropdowns feed COUNTIFS; 'All' becomes the wildcard *.</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KPIs are formulas</a:t>
            </a:r>
          </a:p>
          <a:p>
            <a:pPr algn="l">
              <a:spcAft>
                <a:spcPts val="300"/>
              </a:spcAft>
            </a:pPr>
            <a:r>
              <a:rPr sz="1400" b="0">
                <a:solidFill>
                  <a:srgbClr val="6B6862"/>
                </a:solidFill>
                <a:latin typeface="Calibri"/>
              </a:rPr>
              <a:t>Never type a number Gemini told you - the dashboard must recalculate.</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Charts on live ranges</a:t>
            </a:r>
          </a:p>
          <a:p>
            <a:pPr algn="l">
              <a:spcAft>
                <a:spcPts val="300"/>
              </a:spcAft>
            </a:pPr>
            <a:r>
              <a:rPr sz="1400" b="0">
                <a:solidFill>
                  <a:srgbClr val="6B6862"/>
                </a:solidFill>
                <a:latin typeface="Calibri"/>
              </a:rPr>
              <a:t>Insert &gt; Chart on the dashboard tables, so charts follow the dropdowns.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Gems for repeat work</a:t>
            </a:r>
          </a:p>
          <a:p>
            <a:pPr algn="l">
              <a:spcAft>
                <a:spcPts val="300"/>
              </a:spcAft>
            </a:pPr>
            <a:r>
              <a:rPr sz="1400" b="0">
                <a:solidFill>
                  <a:srgbClr val="6B6862"/>
                </a:solidFill>
                <a:latin typeface="Calibri"/>
              </a:rPr>
              <a:t>Saved instructions + knowledge files = the same screening every 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Optimise, then decide</a:t>
            </a:r>
          </a:p>
          <a:p>
            <a:pPr algn="l">
              <a:spcAft>
                <a:spcPts val="300"/>
              </a:spcAft>
            </a:pPr>
            <a:r>
              <a:rPr sz="1400" b="0">
                <a:solidFill>
                  <a:srgbClr val="6B6862"/>
                </a:solidFill>
                <a:latin typeface="Calibri"/>
              </a:rPr>
              <a:t>Gemini's solver finds the best combination; a person makes the call.</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83480"/>
            <a:ext cx="3973068" cy="1115568"/>
          </a:xfrm>
          <a:prstGeom prst="rect">
            <a:avLst/>
          </a:prstGeom>
          <a:noFill/>
        </p:spPr>
        <p:txBody>
          <a:bodyPr wrap="square" anchor="ctr">
            <a:spAutoFit/>
          </a:bodyPr>
          <a:lstStyle/>
          <a:p>
            <a:pPr algn="l">
              <a:spcAft>
                <a:spcPts val="300"/>
              </a:spcAft>
            </a:pPr>
            <a:r>
              <a:rPr sz="1800" b="1">
                <a:solidFill>
                  <a:srgbClr val="21201C"/>
                </a:solidFill>
                <a:latin typeface="Cambria"/>
              </a:rPr>
              <a:t>Share the minimum</a:t>
            </a:r>
          </a:p>
          <a:p>
            <a:pPr algn="l">
              <a:spcAft>
                <a:spcPts val="300"/>
              </a:spcAft>
            </a:pPr>
            <a:r>
              <a:rPr sz="1400" b="0">
                <a:solidFill>
                  <a:srgbClr val="6B6862"/>
                </a:solidFill>
                <a:latin typeface="Calibri"/>
              </a:rPr>
              <a:t>Only the fields a viewer needs, view-only, after the external-sharing warning.</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Hands-On Labs — Interactive Dashboard</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9–10</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Dashboard KPIs &amp; Selectors</a:t>
            </a:r>
          </a:p>
          <a:p>
            <a:pPr>
              <a:spcAft>
                <a:spcPts val="900"/>
              </a:spcAft>
            </a:pPr>
            <a:r>
              <a:rPr sz="1200" b="0">
                <a:solidFill>
                  <a:srgbClr val="6B6862"/>
                </a:solidFill>
                <a:latin typeface="Calibri"/>
              </a:rPr>
              <a:t>–  Build the Dashboard's Selectors and KPI Formulas</a:t>
            </a:r>
          </a:p>
          <a:p>
            <a:pPr>
              <a:spcAft>
                <a:spcPts val="900"/>
              </a:spcAft>
            </a:pPr>
            <a:r>
              <a:rPr sz="1400" b="1">
                <a:solidFill>
                  <a:srgbClr val="21201C"/>
                </a:solidFill>
                <a:latin typeface="Calibri"/>
              </a:rPr>
              <a:t>•  Interactive Dashboard</a:t>
            </a:r>
          </a:p>
          <a:p>
            <a:pPr>
              <a:spcAft>
                <a:spcPts val="900"/>
              </a:spcAft>
            </a:pPr>
            <a:r>
              <a:rPr sz="1200" b="0">
                <a:solidFill>
                  <a:srgbClr val="6B6862"/>
                </a:solidFill>
                <a:latin typeface="Calibri"/>
              </a:rPr>
              <a:t>–  Make the Hiring Dashboard Interactive and Visual</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11–12</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Gems</a:t>
            </a:r>
          </a:p>
          <a:p>
            <a:pPr>
              <a:spcAft>
                <a:spcPts val="900"/>
              </a:spcAft>
            </a:pPr>
            <a:r>
              <a:rPr sz="1200" b="0">
                <a:solidFill>
                  <a:srgbClr val="6B6862"/>
                </a:solidFill>
                <a:latin typeface="Calibri"/>
              </a:rPr>
              <a:t>–  Create a Candidate Screener Gem and Use It in Sheets</a:t>
            </a:r>
          </a:p>
          <a:p>
            <a:pPr>
              <a:spcAft>
                <a:spcPts val="900"/>
              </a:spcAft>
            </a:pPr>
            <a:r>
              <a:rPr sz="1400" b="1">
                <a:solidFill>
                  <a:srgbClr val="21201C"/>
                </a:solidFill>
                <a:latin typeface="Calibri"/>
              </a:rPr>
              <a:t>•  Optimisation, Reporting &amp; Safe Sharing</a:t>
            </a:r>
          </a:p>
          <a:p>
            <a:pPr>
              <a:spcAft>
                <a:spcPts val="900"/>
              </a:spcAft>
            </a:pPr>
            <a:r>
              <a:rPr sz="1200" b="0">
                <a:solidFill>
                  <a:srgbClr val="6B6862"/>
                </a:solidFill>
                <a:latin typeface="Calibri"/>
              </a:rPr>
              <a:t>–  Optimise the Hiring Decision and Share Results Safely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Makes a Dashboard Interactive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 THEN APPLY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Create a dropdown in C3 with the values from Lists!A2:A10.</a:t>
            </a:r>
          </a:p>
          <a:p>
            <a:pPr>
              <a:spcAft>
                <a:spcPts val="1000"/>
              </a:spcAft>
            </a:pPr>
            <a:r>
              <a:rPr sz="1600" b="0">
                <a:solidFill>
                  <a:srgbClr val="21201C"/>
                </a:solidFill>
                <a:latin typeface="Calibri"/>
              </a:rPr>
              <a:t>•  Create a dropdown in C4 with the values from Lists!B2:B9.</a:t>
            </a:r>
          </a:p>
          <a:p>
            <a:pPr>
              <a:spcAft>
                <a:spcPts val="1000"/>
              </a:spcAft>
            </a:pPr>
            <a:r>
              <a:rPr sz="1600" b="0">
                <a:solidFill>
                  <a:srgbClr val="21201C"/>
                </a:solidFill>
                <a:latin typeface="Calibri"/>
              </a:rPr>
              <a:t>•  Set both to All.</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C3 lists All + 8 positions.</a:t>
            </a:r>
          </a:p>
          <a:p>
            <a:pPr>
              <a:spcAft>
                <a:spcPts val="1000"/>
              </a:spcAft>
            </a:pPr>
            <a:r>
              <a:rPr sz="1600" b="0">
                <a:solidFill>
                  <a:srgbClr val="21201C"/>
                </a:solidFill>
                <a:latin typeface="Calibri"/>
              </a:rPr>
              <a:t>•  C4 lists All + 7 sources.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KPI Formulas Driven by Dropdowns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COUNTIFS/AVERAGEIFS with IF($C$3="All","*",$C$3): every KPI follows the dropdowns.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Formula KPIs recalculate instantly - test 'All', one group and an empty mix.</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What does your formula return when a combination has no rows?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Try It in Gemini — KPI Formulas Driven by Dropdowns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DESCRIBE THE KPI</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Count rows where Position = C3 and Source = C4; All means any value.</a:t>
            </a:r>
          </a:p>
          <a:p>
            <a:pPr>
              <a:spcAft>
                <a:spcPts val="1000"/>
              </a:spcAft>
            </a:pPr>
            <a:r>
              <a:rPr sz="1600" b="0">
                <a:solidFill>
                  <a:srgbClr val="21201C"/>
                </a:solidFill>
                <a:latin typeface="Calibri"/>
              </a:rPr>
              <a:t>•  Hires: the same count where Stage is Hired.</a:t>
            </a:r>
          </a:p>
          <a:p>
            <a:pPr>
              <a:spcAft>
                <a:spcPts val="1000"/>
              </a:spcAft>
            </a:pPr>
            <a:r>
              <a:rPr sz="1600" b="0">
                <a:solidFill>
                  <a:srgbClr val="21201C"/>
                </a:solidFill>
                <a:latin typeface="Calibri"/>
              </a:rPr>
              <a:t>•  Hire rate: E7/B7, 0 if B7 is 0.</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All/All: 720 and 41.</a:t>
            </a:r>
          </a:p>
          <a:p>
            <a:pPr>
              <a:spcAft>
                <a:spcPts val="1000"/>
              </a:spcAft>
            </a:pPr>
            <a:r>
              <a:rPr sz="1600" b="0">
                <a:solidFill>
                  <a:srgbClr val="21201C"/>
                </a:solidFill>
                <a:latin typeface="Calibri"/>
              </a:rPr>
              <a:t>•  No #DIV/0! anywhere.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THEME · DASHBOARD KPIS &amp; SELECTORS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Build the Dashboard's Selectors and KPI Formulas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9</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The Head of Talent wants one page that answers 'how is hiring going?' for any role and any source. You will turn two cells into dropdown selectors, then ask Gemini for the formulas: COUNTIFS that treat 'All' as 'every value', a hire rate, AVERAGEIFS for screening score and days to hire, and the funnel, monthly and source tables that the charts in Lab 10 will use. Every KPI is a formula, never a typed number, so it changes when the selectors change - and you test that it does.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OrchidBay_Dashboard_Build with Position and Source dropdowns in C3:C4, a KPI row (B7:H7) and funnel, monthly and source tables that all respond to the dropdowns</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Selectors</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Count KPIs</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Rate &amp; average KPIs</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Summary tables</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Test the filters</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Google Sheets · Gemini dropdown actions and formula generation (COUNTIFS, AVERAGEIFS, IFERROR) · OrchidBay_Dashboard_Build.xlsx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9</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KPI:  </a:t>
            </a:r>
            <a:r>
              <a:rPr sz="1200" b="0">
                <a:solidFill>
                  <a:srgbClr val="21201C"/>
                </a:solidFill>
                <a:latin typeface="Calibri"/>
              </a:rPr>
              <a:t>Create a formula for the offer acceptance rate: Hired divided by Offered plus Hired, for the selected Position and Source.</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ratio KPI built from two COUNTIFS - check it on one position by hand.</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KPI:  </a:t>
            </a:r>
            <a:r>
              <a:rPr sz="1200" b="0">
                <a:solidFill>
                  <a:srgbClr val="21201C"/>
                </a:solidFill>
                <a:latin typeface="Calibri"/>
              </a:rPr>
              <a:t>Create a formula that returns the most common Source for the selected Position.</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may use INDEX/MATCH or QUERY; verify with the Lab 7 source table.</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Selector:  </a:t>
            </a:r>
            <a:r>
              <a:rPr sz="1200" b="0">
                <a:solidFill>
                  <a:srgbClr val="21201C"/>
                </a:solidFill>
                <a:latin typeface="Calibri"/>
              </a:rPr>
              <a:t>Create a dropdown in C5 with the values 2026-01 to 2026-09.</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third selector you could add to the COUNTIFS criteria.</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Explain:  </a:t>
            </a:r>
            <a:r>
              <a:rPr sz="1200" b="0">
                <a:solidFill>
                  <a:srgbClr val="21201C"/>
                </a:solidFill>
                <a:latin typeface="Calibri"/>
              </a:rPr>
              <a:t>Explain the formula in B7 to someone who has never used COUNTIFS.</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plain-language explanation for a colleague who will maintain the dashboard.</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Check:  </a:t>
            </a:r>
            <a:r>
              <a:rPr sz="1200" b="0">
                <a:solidFill>
                  <a:srgbClr val="21201C"/>
                </a:solidFill>
                <a:latin typeface="Calibri"/>
              </a:rPr>
              <a:t>Which formulas on the Dashboard tab would break if a new Position were added?</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reviews the dashboard's robustness - the Lists ranges are fixed-size.</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9</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Selectors</a:t>
            </a:r>
          </a:p>
          <a:p>
            <a:pPr algn="l">
              <a:spcAft>
                <a:spcPts val="300"/>
              </a:spcAft>
            </a:pPr>
            <a:r>
              <a:rPr sz="1300" b="0">
                <a:solidFill>
                  <a:srgbClr val="6B6862"/>
                </a:solidFill>
                <a:latin typeface="Calibri"/>
              </a:rPr>
              <a:t>C3 lists All + 8 positions; C4 lists All + 7 sources.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All / All</a:t>
            </a:r>
          </a:p>
          <a:p>
            <a:pPr algn="l">
              <a:spcAft>
                <a:spcPts val="300"/>
              </a:spcAft>
            </a:pPr>
            <a:r>
              <a:rPr sz="1300" b="0">
                <a:solidFill>
                  <a:srgbClr val="6B6862"/>
                </a:solidFill>
                <a:latin typeface="Calibri"/>
              </a:rPr>
              <a:t>B7:H7 = 720, 61, 47, 41, 5.7%, 65.5, 31.1.</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Tables</a:t>
            </a:r>
          </a:p>
          <a:p>
            <a:pPr algn="l">
              <a:spcAft>
                <a:spcPts val="300"/>
              </a:spcAft>
            </a:pPr>
            <a:r>
              <a:rPr sz="1300" b="0">
                <a:solidFill>
                  <a:srgbClr val="6B6862"/>
                </a:solidFill>
                <a:latin typeface="Calibri"/>
              </a:rPr>
              <a:t>Funnel 720/61/47/41; June applications 98; LinkedIn hires 11.</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Software Engineer</a:t>
            </a:r>
          </a:p>
          <a:p>
            <a:pPr algn="l">
              <a:spcAft>
                <a:spcPts val="300"/>
              </a:spcAft>
            </a:pPr>
            <a:r>
              <a:rPr sz="1300" b="0">
                <a:solidFill>
                  <a:srgbClr val="6B6862"/>
                </a:solidFill>
                <a:latin typeface="Calibri"/>
              </a:rPr>
              <a:t>104 applications, 6 hires, 5.8%; the COUNTIFS check shows 6.</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Data Analyst + LinkedIn</a:t>
            </a:r>
          </a:p>
          <a:p>
            <a:pPr algn="l">
              <a:spcAft>
                <a:spcPts val="300"/>
              </a:spcAft>
            </a:pPr>
            <a:r>
              <a:rPr sz="1300" b="0">
                <a:solidFill>
                  <a:srgbClr val="6B6862"/>
                </a:solidFill>
                <a:latin typeface="Calibri"/>
              </a:rPr>
              <a:t>30 applications, 0 hires; H7 shows '-' (no error).</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Dashboard Design: Charts, Alerts and Protection</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Selectors on top, KPIs in a row, linked charts below, alerts on the KPIs, everything else protected.</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Other people will use it - clarity, alerts and protection make it trustworthy.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Change a dropdown: does every chart redraw?</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From KPI Formulas to Dashboard</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5B4B8A"/>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Selectors and KPI formulas (Lab 9)</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5B4B8A"/>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Linked charts on dashboard tables</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5B4B8A"/>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Metric switch</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5B4B8A"/>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KPI alerts</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5B4B8A"/>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5B4B8A"/>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Protect, summarise, share</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Build It with Gemini — Dashboard Design: Charts, Alerts and Protection</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How do I insert a chart from a range so that it updates?</a:t>
            </a:r>
          </a:p>
          <a:p>
            <a:pPr>
              <a:spcAft>
                <a:spcPts val="1000"/>
              </a:spcAft>
            </a:pPr>
            <a:r>
              <a:rPr sz="1600" b="0">
                <a:solidFill>
                  <a:srgbClr val="21201C"/>
                </a:solidFill>
                <a:latin typeface="Calibri"/>
              </a:rPr>
              <a:t>•  Create a dropdown in C5 with Applications and Hires.</a:t>
            </a:r>
          </a:p>
          <a:p>
            <a:pPr>
              <a:spcAft>
                <a:spcPts val="1000"/>
              </a:spcAft>
            </a:pPr>
            <a:r>
              <a:rPr sz="1600" b="0">
                <a:solidFill>
                  <a:srgbClr val="21201C"/>
                </a:solidFill>
                <a:latin typeface="Calibri"/>
              </a:rPr>
              <a:t>•  Highlight F7 in light red when it is below 5%.</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Charts redraw for each Position.</a:t>
            </a:r>
          </a:p>
          <a:p>
            <a:pPr>
              <a:spcAft>
                <a:spcPts val="1000"/>
              </a:spcAft>
            </a:pPr>
            <a:r>
              <a:rPr sz="1600" b="0">
                <a:solidFill>
                  <a:srgbClr val="21201C"/>
                </a:solidFill>
                <a:latin typeface="Calibri"/>
              </a:rPr>
              <a:t>•  Alerts fire for HR Executive.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THEME · INTERACTIVE DASHBOARD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Make the Hiring Dashboard Interactive and Visual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10</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The KPI formulas from Lab 9 are ready: dropdowns in C3:C4 drive the KPIs and three tables. You will add charts that are linked to those tables (unlike Gemini-inserted charts, which are static copies), so they redraw when a dropdown changes. A third dropdown switches the monthly chart between Applications and Hires, and conditional-formatting alerts flag a low hire rate and a slow time to hire. You will hide the gridlines, protect the formulas, and ask Gemini to summarise the dashboard for the Head of Talent.</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OrchidBay_Dashboard_Interactive: a protected Dashboard tab with three linked charts, a metric switch, KPI alerts and a Gemini summary exported to Google Docs</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Linked charts</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Test views</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Metric switch</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KPI alerts</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Polish &amp; summarise</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Google Sheets · Insert &gt; Chart (linked) · Gemini actions (dropdown, conditional formatting) and formulas · Export to Docs · OrchidBay_Dashboard_Interactive.xlsx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10</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Image:  </a:t>
            </a:r>
            <a:r>
              <a:rPr sz="1200" b="0">
                <a:solidFill>
                  <a:srgbClr val="21201C"/>
                </a:solidFill>
                <a:latin typeface="Calibri"/>
              </a:rPr>
              <a:t>Create an image of a simple header banner with an orchid and the words Hiring Dashboard.</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generates an image; Insert image places it on the sheet. Keep branding simple and fictional.</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Layout:  </a:t>
            </a:r>
            <a:r>
              <a:rPr sz="1200" b="0">
                <a:solidFill>
                  <a:srgbClr val="21201C"/>
                </a:solidFill>
                <a:latin typeface="Calibri"/>
              </a:rPr>
              <a:t>Suggest a clean layout for this dashboard: where should the KPIs, charts and selectors go?</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as a design adviser - you decide what to apply.</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Alert:  </a:t>
            </a:r>
            <a:r>
              <a:rPr sz="1200" b="0">
                <a:solidFill>
                  <a:srgbClr val="21201C"/>
                </a:solidFill>
                <a:latin typeface="Calibri"/>
              </a:rPr>
              <a:t>Highlight the Hires cells in the monthly table that are 0 in light grey.</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Another conditional-formatting rule for empty months.</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Number format:  </a:t>
            </a:r>
            <a:r>
              <a:rPr sz="1200" b="0">
                <a:solidFill>
                  <a:srgbClr val="21201C"/>
                </a:solidFill>
                <a:latin typeface="Calibri"/>
              </a:rPr>
              <a:t>Format F7 as a percentage with one decimal place and G7:H7 with one decimal place.</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set-number-format action for the KPI row.</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Review:  </a:t>
            </a:r>
            <a:r>
              <a:rPr sz="1200" b="0">
                <a:solidFill>
                  <a:srgbClr val="21201C"/>
                </a:solidFill>
                <a:latin typeface="Calibri"/>
              </a:rPr>
              <a:t>Review this dashboard for a colleague: what is unclear, and what would you add?</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critique from Gemini - a quick usability check before you share.</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10</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Linked charts</a:t>
            </a:r>
          </a:p>
          <a:p>
            <a:pPr algn="l">
              <a:spcAft>
                <a:spcPts val="300"/>
              </a:spcAft>
            </a:pPr>
            <a:r>
              <a:rPr sz="1300" b="0">
                <a:solidFill>
                  <a:srgbClr val="6B6862"/>
                </a:solidFill>
                <a:latin typeface="Calibri"/>
              </a:rPr>
              <a:t>Three charts built with Insert &gt; Chart from E10:G19 (or E10:E19 + H10:H19), B10:C14 and I10:J17.</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Customer Success Executive</a:t>
            </a:r>
          </a:p>
          <a:p>
            <a:pPr algn="l">
              <a:spcAft>
                <a:spcPts val="300"/>
              </a:spcAft>
            </a:pPr>
            <a:r>
              <a:rPr sz="1300" b="0">
                <a:solidFill>
                  <a:srgbClr val="6B6862"/>
                </a:solidFill>
                <a:latin typeface="Calibri"/>
              </a:rPr>
              <a:t>103 applications, 7 hires, 6.8%; all charts redraw.</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Metric switch</a:t>
            </a:r>
          </a:p>
          <a:p>
            <a:pPr algn="l">
              <a:spcAft>
                <a:spcPts val="300"/>
              </a:spcAft>
            </a:pPr>
            <a:r>
              <a:rPr sz="1300" b="0">
                <a:solidFill>
                  <a:srgbClr val="6B6862"/>
                </a:solidFill>
                <a:latin typeface="Calibri"/>
              </a:rPr>
              <a:t>C5 = Hires changes the line chart and the H10 header to 'Monthly Hires'.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Alerts</a:t>
            </a:r>
          </a:p>
          <a:p>
            <a:pPr algn="l">
              <a:spcAft>
                <a:spcPts val="300"/>
              </a:spcAft>
            </a:pPr>
            <a:r>
              <a:rPr sz="1300" b="0">
                <a:solidFill>
                  <a:srgbClr val="6B6862"/>
                </a:solidFill>
                <a:latin typeface="Calibri"/>
              </a:rPr>
              <a:t>Operations Supervisor: F7 red (4.3%). HR Executive: F7 red (3.5%), H7 amber (39.3).</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Polish</a:t>
            </a:r>
          </a:p>
          <a:p>
            <a:pPr algn="l">
              <a:spcAft>
                <a:spcPts val="300"/>
              </a:spcAft>
            </a:pPr>
            <a:r>
              <a:rPr sz="1300" b="0">
                <a:solidFill>
                  <a:srgbClr val="6B6862"/>
                </a:solidFill>
                <a:latin typeface="Calibri"/>
              </a:rPr>
              <a:t>No gridlines, Lists hidden, Dashboard protected except C3:C5; summary exported to Docs.</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Gems: Reusable Expert Assistants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custom Gemini with saved instructions and knowledge files - reused from the Sheets side panel.</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same rubric and format every time: faster, more consistent screening.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Did you test the Gem on a candidate whose answer you already know?</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Build Your Gem — Gems: Reusable Expert Assistants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IN THE GEMINI APP</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gemini.google.com &gt; Gems &gt; New Gem.</a:t>
            </a:r>
          </a:p>
          <a:p>
            <a:pPr>
              <a:spcAft>
                <a:spcPts val="1000"/>
              </a:spcAft>
            </a:pPr>
            <a:r>
              <a:rPr sz="1600" b="0">
                <a:solidFill>
                  <a:srgbClr val="21201C"/>
                </a:solidFill>
                <a:latin typeface="Calibri"/>
              </a:rPr>
              <a:t>•  Paste Persona / Task / Context / Format instructions.</a:t>
            </a:r>
          </a:p>
          <a:p>
            <a:pPr>
              <a:spcAft>
                <a:spcPts val="1000"/>
              </a:spcAft>
            </a:pPr>
            <a:r>
              <a:rPr sz="1600" b="0">
                <a:solidFill>
                  <a:srgbClr val="21201C"/>
                </a:solidFill>
                <a:latin typeface="Calibri"/>
              </a:rPr>
              <a:t>•  Add the job descriptions and rubric from Drive.</a:t>
            </a:r>
          </a:p>
          <a:p>
            <a:pPr>
              <a:spcAft>
                <a:spcPts val="1000"/>
              </a:spcAft>
            </a:pPr>
            <a:r>
              <a:rPr sz="1600" b="0">
                <a:solidFill>
                  <a:srgbClr val="21201C"/>
                </a:solidFill>
                <a:latin typeface="Calibri"/>
              </a:rPr>
              <a:t>•  In Sheets: Ask Gemini &gt; Gems &gt; your Gem.</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Test candidate scores 12/20, Hold.</a:t>
            </a:r>
          </a:p>
          <a:p>
            <a:pPr>
              <a:spcAft>
                <a:spcPts val="1000"/>
              </a:spcAft>
            </a:pPr>
            <a:r>
              <a:rPr sz="1600" b="0">
                <a:solidFill>
                  <a:srgbClr val="21201C"/>
                </a:solidFill>
                <a:latin typeface="Calibri"/>
              </a:rPr>
              <a:t>•  Gaps match the data.</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Writing Gem Instructions That Are Fair</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GEM INSTRUCTIONS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PERSONA: careful, fair recruitment analyst.</a:t>
            </a:r>
          </a:p>
          <a:p>
            <a:pPr>
              <a:spcAft>
                <a:spcPts val="1000"/>
              </a:spcAft>
            </a:pPr>
            <a:r>
              <a:rPr sz="1600" b="0">
                <a:solidFill>
                  <a:srgbClr val="21201C"/>
                </a:solidFill>
                <a:latin typeface="Calibri"/>
              </a:rPr>
              <a:t>•  CONTEXT: use only the row and the job description.</a:t>
            </a:r>
          </a:p>
          <a:p>
            <a:pPr>
              <a:spcAft>
                <a:spcPts val="1000"/>
              </a:spcAft>
            </a:pPr>
            <a:r>
              <a:rPr sz="1600" b="0">
                <a:solidFill>
                  <a:srgbClr val="21201C"/>
                </a:solidFill>
                <a:latin typeface="Calibri"/>
              </a:rPr>
              <a:t>•  Never use age, gender, race, religion, nationality ...</a:t>
            </a:r>
          </a:p>
          <a:p>
            <a:pPr>
              <a:spcAft>
                <a:spcPts val="1000"/>
              </a:spcAft>
            </a:pPr>
            <a:r>
              <a:rPr sz="1600" b="0">
                <a:solidFill>
                  <a:srgbClr val="21201C"/>
                </a:solidFill>
                <a:latin typeface="Calibri"/>
              </a:rPr>
              <a:t>•  FORMAT: one table, with a one-line reason.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Reasons cite evidence only.</a:t>
            </a:r>
          </a:p>
          <a:p>
            <a:pPr>
              <a:spcAft>
                <a:spcPts val="1000"/>
              </a:spcAft>
            </a:pPr>
            <a:r>
              <a:rPr sz="1600" b="0">
                <a:solidFill>
                  <a:srgbClr val="21201C"/>
                </a:solidFill>
                <a:latin typeface="Calibri"/>
              </a:rPr>
              <a:t>•  Unsure cases listed.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THEME · GEMS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 Candidate Screener Gem and Use It in Sheets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Screening 16 finalists by hand takes the recruiters a day, and every recruiter scores a little differently. You will create a Gem - a custom Gemini with saved instructions - in the Gemini app. Its instructions follow the Persona, Task, Context and Format pattern; its knowledge is the job descriptions and the screening rubric from Google Drive. You will test it on one candidate, open it from the Gems list in the Sheets side panel, screen all four roles, insert the results, check them against the data and record the human decision.</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An 'Orchid Bay Candidate Screener' Gem with instructions and two knowledge files, and OrchidBay_Finalists with a Gem_Screening tab, checks and a Hiring_Manager_Decision dropdown</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Write instructions</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Add knowledge</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Test the Gem</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Screen in Sheets</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Check &amp; decide</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Gemini app (gemini.google.com) · Gems · Google Drive · Google Sheets Gemini side panel (Gems) · OrchidBay_Finalists.xlsx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11</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Gem:  </a:t>
            </a:r>
            <a:r>
              <a:rPr sz="1200" b="0">
                <a:solidFill>
                  <a:srgbClr val="21201C"/>
                </a:solidFill>
                <a:latin typeface="Calibri"/>
              </a:rPr>
              <a:t>Write three interview questions for the weakest rubric area of each Advance candidate.</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The Gem builds on its own screening to prepare the next interview.</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Gem:  </a:t>
            </a:r>
            <a:r>
              <a:rPr sz="1200" b="0">
                <a:solidFill>
                  <a:srgbClr val="21201C"/>
                </a:solidFill>
                <a:latin typeface="Calibri"/>
              </a:rPr>
              <a:t>Rank the Software Engineer finalists by Total and explain the ranking in one sentence each.</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ranked shortlist with reasons - check that the ranks follow the totals.</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Gem:  </a:t>
            </a:r>
            <a:r>
              <a:rPr sz="1200" b="0">
                <a:solidFill>
                  <a:srgbClr val="21201C"/>
                </a:solidFill>
                <a:latin typeface="Calibri"/>
              </a:rPr>
              <a:t>Draft a polite email to a candidate you recommend we Decline, without giving scores.</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The Gem drafts candidate communication; a person reviews it before sending.</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Gemini app:  </a:t>
            </a:r>
            <a:r>
              <a:rPr sz="1200" b="0">
                <a:solidFill>
                  <a:srgbClr val="21201C"/>
                </a:solidFill>
                <a:latin typeface="Calibri"/>
              </a:rPr>
              <a:t>Improve my Gem instructions so the Reason column always quotes the evidence.</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helps you improve the Gem itself.</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Side panel:  </a:t>
            </a:r>
            <a:r>
              <a:rPr sz="1200" b="0">
                <a:solidFill>
                  <a:srgbClr val="21201C"/>
                </a:solidFill>
                <a:latin typeface="Calibri"/>
              </a:rPr>
              <a:t>What are the main points of OrchidBay_Screening_Rubric?</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summarises a Drive file by name; expand Sources to see which file it used.</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11</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Gem</a:t>
            </a:r>
          </a:p>
          <a:p>
            <a:pPr algn="l">
              <a:spcAft>
                <a:spcPts val="300"/>
              </a:spcAft>
            </a:pPr>
            <a:r>
              <a:rPr sz="1300" b="0">
                <a:solidFill>
                  <a:srgbClr val="6B6862"/>
                </a:solidFill>
                <a:latin typeface="Calibri"/>
              </a:rPr>
              <a:t>Saved as 'Orchid Bay Candidate Screener' with instructions and both knowledge files.</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Test candidate</a:t>
            </a:r>
          </a:p>
          <a:p>
            <a:pPr algn="l">
              <a:spcAft>
                <a:spcPts val="300"/>
              </a:spcAft>
            </a:pPr>
            <a:r>
              <a:rPr sz="1300" b="0">
                <a:solidFill>
                  <a:srgbClr val="6B6862"/>
                </a:solidFill>
                <a:latin typeface="Calibri"/>
              </a:rPr>
              <a:t>CAN-26693: gap Tableau; 12/20; Hold.</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Must-have gaps</a:t>
            </a:r>
          </a:p>
          <a:p>
            <a:pPr algn="l">
              <a:spcAft>
                <a:spcPts val="300"/>
              </a:spcAft>
            </a:pPr>
            <a:r>
              <a:rPr sz="1300" b="0">
                <a:solidFill>
                  <a:srgbClr val="6B6862"/>
                </a:solidFill>
                <a:latin typeface="Calibri"/>
              </a:rPr>
              <a:t>CAN-26693 (Tableau); CAN-26699 (JavaScript); CAN-26622 (JavaScript); CAN-26621 (Reconciliation); CAN-26579 (Accounting).</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Salary check</a:t>
            </a:r>
          </a:p>
          <a:p>
            <a:pPr algn="l">
              <a:spcAft>
                <a:spcPts val="300"/>
              </a:spcAft>
            </a:pPr>
            <a:r>
              <a:rPr sz="1300" b="0">
                <a:solidFill>
                  <a:srgbClr val="6B6862"/>
                </a:solidFill>
                <a:latin typeface="Calibri"/>
              </a:rPr>
              <a:t>Above-budget formula = 4 (CAN-26567, CAN-26577, CAN-26579, CAN-26662).</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Decisions</a:t>
            </a:r>
          </a:p>
          <a:p>
            <a:pPr algn="l">
              <a:spcAft>
                <a:spcPts val="300"/>
              </a:spcAft>
            </a:pPr>
            <a:r>
              <a:rPr sz="1300" b="0">
                <a:solidFill>
                  <a:srgbClr val="6B6862"/>
                </a:solidFill>
                <a:latin typeface="Calibri"/>
              </a:rPr>
              <a:t>Rubric applied exactly: 7 Advance / 8 Hold / 1 Decline; Hiring_Manager_Decision dropdown added and filled by you.</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Optimization Problem Solver</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Maximise the total Weighted_Score.</a:t>
            </a:r>
          </a:p>
          <a:p>
            <a:pPr>
              <a:spcAft>
                <a:spcPts val="1000"/>
              </a:spcAft>
            </a:pPr>
            <a:r>
              <a:rPr sz="1600" b="0">
                <a:solidFill>
                  <a:srgbClr val="21201C"/>
                </a:solidFill>
                <a:latin typeface="Calibri"/>
              </a:rPr>
              <a:t>•  Hire exactly the Openings per Position.</a:t>
            </a:r>
          </a:p>
          <a:p>
            <a:pPr>
              <a:spcAft>
                <a:spcPts val="1000"/>
              </a:spcAft>
            </a:pPr>
            <a:r>
              <a:rPr sz="1600" b="0">
                <a:solidFill>
                  <a:srgbClr val="21201C"/>
                </a:solidFill>
                <a:latin typeface="Calibri"/>
              </a:rPr>
              <a:t>•  Keep total Expected_Salary within Constraints!B8.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Within budget = TRUE.</a:t>
            </a:r>
          </a:p>
          <a:p>
            <a:pPr>
              <a:spcAft>
                <a:spcPts val="1000"/>
              </a:spcAft>
            </a:pPr>
            <a:r>
              <a:rPr sz="1600" b="0">
                <a:solidFill>
                  <a:srgbClr val="21201C"/>
                </a:solidFill>
                <a:latin typeface="Calibri"/>
              </a:rPr>
              <a:t>•  Two per role, 8 in total.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and Responsible Use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Use Drive and Gmail as context, check Sources, share minimal views, and keep a human decision.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 data is personal: minimise it, check it, and stay accountable.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What is the least data this viewer needs to see?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Try It in Gemini — Sharing and Responsible Use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ASK GEMINI</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THEN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What are the main points of OrchidBay_Screening_Rubric?</a:t>
            </a:r>
          </a:p>
          <a:p>
            <a:pPr>
              <a:spcAft>
                <a:spcPts val="1000"/>
              </a:spcAft>
            </a:pPr>
            <a:r>
              <a:rPr sz="1600" b="0">
                <a:solidFill>
                  <a:srgbClr val="21201C"/>
                </a:solidFill>
                <a:latin typeface="Calibri"/>
              </a:rPr>
              <a:t>•  Which columns contain personal data the client doesn't need?</a:t>
            </a:r>
          </a:p>
          <a:p>
            <a:pPr>
              <a:spcAft>
                <a:spcPts val="1000"/>
              </a:spcAft>
            </a:pPr>
            <a:r>
              <a:rPr sz="1600" b="0">
                <a:solidFill>
                  <a:srgbClr val="21201C"/>
                </a:solidFill>
                <a:latin typeface="Calibri"/>
              </a:rPr>
              <a:t>•  Create a Share_View tab with only four columns.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Sources expanded and checked.</a:t>
            </a:r>
          </a:p>
          <a:p>
            <a:pPr>
              <a:spcAft>
                <a:spcPts val="1000"/>
              </a:spcAft>
            </a:pPr>
            <a:r>
              <a:rPr sz="1600" b="0">
                <a:solidFill>
                  <a:srgbClr val="21201C"/>
                </a:solidFill>
                <a:latin typeface="Calibri"/>
              </a:rPr>
              <a:t>•  Shared as Viewer only.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Choosing Gemini's Sources</a:t>
            </a:r>
          </a:p>
        </p:txBody>
      </p:sp>
      <p:sp>
        <p:nvSpPr>
          <p:cNvPr id="5" name="Rectangle 4"/>
          <p:cNvSpPr/>
          <p:nvPr/>
        </p:nvSpPr>
        <p:spPr>
          <a:xfrm>
            <a:off x="2837744" y="1792224"/>
            <a:ext cx="6516207" cy="4224528"/>
          </a:xfrm>
          <a:prstGeom prst="rect">
            <a:avLst/>
          </a:prstGeom>
          <a:solidFill>
            <a:srgbClr val="DCD8CF"/>
          </a:solidFill>
          <a:ln>
            <a:noFill/>
          </a:ln>
          <a:effectLst/>
        </p:spPr>
        <p:txBody>
          <a:bodyPr rtlCol="0" anchor="ctr"/>
          <a:lstStyle/>
          <a:p>
            <a:pPr algn="ctr"/>
          </a:p>
        </p:txBody>
      </p:sp>
      <p:pic>
        <p:nvPicPr>
          <p:cNvPr id="6" name="Picture 5" descr="gemini-sources.png"/>
          <p:cNvPicPr>
            <a:picLocks noChangeAspect="1"/>
          </p:cNvPicPr>
          <p:nvPr/>
        </p:nvPicPr>
        <p:blipFill>
          <a:blip r:embed="rId2"/>
          <a:stretch>
            <a:fillRect/>
          </a:stretch>
        </p:blipFill>
        <p:spPr>
          <a:xfrm>
            <a:off x="2892608" y="1847088"/>
            <a:ext cx="6406480" cy="4114800"/>
          </a:xfrm>
          <a:prstGeom prst="rect">
            <a:avLst/>
          </a:prstGeom>
        </p:spPr>
      </p:pic>
      <p:sp>
        <p:nvSpPr>
          <p:cNvPr id="7" name="TextBox 6"/>
          <p:cNvSpPr txBox="1"/>
          <p:nvPr/>
        </p:nvSpPr>
        <p:spPr>
          <a:xfrm>
            <a:off x="777240" y="6053328"/>
            <a:ext cx="10607040" cy="365760"/>
          </a:xfrm>
          <a:prstGeom prst="rect">
            <a:avLst/>
          </a:prstGeom>
          <a:noFill/>
        </p:spPr>
        <p:txBody>
          <a:bodyPr wrap="square" anchor="t">
            <a:spAutoFit/>
          </a:bodyPr>
          <a:lstStyle/>
          <a:p>
            <a:pPr algn="ctr">
              <a:spcAft>
                <a:spcPts val="400"/>
              </a:spcAft>
            </a:pPr>
            <a:r>
              <a:rPr sz="1200" b="0">
                <a:solidFill>
                  <a:srgbClr val="6B6862"/>
                </a:solidFill>
                <a:latin typeface="Calibri"/>
              </a:rPr>
              <a:t>Gemini lists the sources it used - and you can limit it to the tabs you choose.   Screenshot: Google Docs Editors Help - Collaborate with Gemini in Google Sheets</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THEME · OPTIMISATION, REPORTING &amp; SAFE SHARING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Optimise the Hiring Decision and Share Results Safely</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The client wants eight hires - two for each of four roles - and one total monthly salary budget of S$41,900. Picking the top two in each role costs S$43,100, which is over budget. You will describe the problem to Gemini's optimisation solver, compare its answer with the no-budget choice, tick the selected candidates and prove the totals with formulas. Then you will export a recommendation to Google Docs, use a Drive file as context, build a minimal Share_View tab and share it safely.</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OrchidBay_Hiring_Decision with a Selected checkbox column, check formulas that prove the constraints, a recommendation in Google Docs and a separate Share_View file shared view-only</a:t>
            </a:r>
          </a:p>
        </p:txBody>
      </p:sp>
      <p:sp>
        <p:nvSpPr>
          <p:cNvPr id="12" name="Rectangle 11"/>
          <p:cNvSpPr/>
          <p:nvPr/>
        </p:nvSpPr>
        <p:spPr>
          <a:xfrm>
            <a:off x="1005840"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1  Optimise</a:t>
            </a:r>
          </a:p>
        </p:txBody>
      </p:sp>
      <p:sp>
        <p:nvSpPr>
          <p:cNvPr id="14" name="Rectangle 13"/>
          <p:cNvSpPr/>
          <p:nvPr/>
        </p:nvSpPr>
        <p:spPr>
          <a:xfrm>
            <a:off x="3050438"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105302"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2  Compare</a:t>
            </a:r>
          </a:p>
        </p:txBody>
      </p:sp>
      <p:sp>
        <p:nvSpPr>
          <p:cNvPr id="16" name="Rectangle 15"/>
          <p:cNvSpPr/>
          <p:nvPr/>
        </p:nvSpPr>
        <p:spPr>
          <a:xfrm>
            <a:off x="5095036"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5149900"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3  Verify</a:t>
            </a:r>
          </a:p>
        </p:txBody>
      </p:sp>
      <p:sp>
        <p:nvSpPr>
          <p:cNvPr id="18" name="Rectangle 17"/>
          <p:cNvSpPr/>
          <p:nvPr/>
        </p:nvSpPr>
        <p:spPr>
          <a:xfrm>
            <a:off x="7139634"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7194498"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4  Recommend</a:t>
            </a:r>
          </a:p>
        </p:txBody>
      </p:sp>
      <p:sp>
        <p:nvSpPr>
          <p:cNvPr id="20" name="Rectangle 19"/>
          <p:cNvSpPr/>
          <p:nvPr/>
        </p:nvSpPr>
        <p:spPr>
          <a:xfrm>
            <a:off x="9184232" y="4828032"/>
            <a:ext cx="1880006" cy="475488"/>
          </a:xfrm>
          <a:prstGeom prst="rect">
            <a:avLst/>
          </a:prstGeom>
          <a:solidFill>
            <a:srgbClr val="FAF9F5"/>
          </a:solidFill>
          <a:ln w="12700">
            <a:solidFill>
              <a:srgbClr val="DCD8CF"/>
            </a:solidFill>
          </a:ln>
          <a:effectLst/>
        </p:spPr>
        <p:txBody>
          <a:bodyPr rtlCol="0" anchor="ctr"/>
          <a:lstStyle/>
          <a:p>
            <a:pPr algn="ctr"/>
          </a:p>
        </p:txBody>
      </p:sp>
      <p:sp>
        <p:nvSpPr>
          <p:cNvPr id="21" name="TextBox 20"/>
          <p:cNvSpPr txBox="1"/>
          <p:nvPr/>
        </p:nvSpPr>
        <p:spPr>
          <a:xfrm>
            <a:off x="9239096" y="4882896"/>
            <a:ext cx="1770278" cy="347472"/>
          </a:xfrm>
          <a:prstGeom prst="rect">
            <a:avLst/>
          </a:prstGeom>
          <a:noFill/>
        </p:spPr>
        <p:txBody>
          <a:bodyPr wrap="square" anchor="ctr">
            <a:spAutoFit/>
          </a:bodyPr>
          <a:lstStyle/>
          <a:p>
            <a:pPr algn="ctr">
              <a:spcAft>
                <a:spcPts val="400"/>
              </a:spcAft>
            </a:pPr>
            <a:r>
              <a:rPr sz="1100" b="1">
                <a:solidFill>
                  <a:srgbClr val="21201C"/>
                </a:solidFill>
                <a:latin typeface="Calibri"/>
              </a:rPr>
              <a:t>5  Share safely</a:t>
            </a:r>
          </a:p>
        </p:txBody>
      </p:sp>
      <p:sp>
        <p:nvSpPr>
          <p:cNvPr id="22" name="TextBox 21"/>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Google Sheets · Gemini optimisation problem solver · Export to Docs · Drive files as context · sharing · OrchidBay_Hiring_Decision.xlsx</a:t>
            </a:r>
          </a:p>
        </p:txBody>
      </p:sp>
      <p:sp>
        <p:nvSpPr>
          <p:cNvPr id="23" name="TextBox 2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5" name="TextBox 2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12</a:t>
            </a:r>
          </a:p>
        </p:txBody>
      </p:sp>
      <p:sp>
        <p:nvSpPr>
          <p:cNvPr id="5" name="TextBox 4"/>
          <p:cNvSpPr txBox="1"/>
          <p:nvPr/>
        </p:nvSpPr>
        <p:spPr>
          <a:xfrm>
            <a:off x="1463040" y="1645920"/>
            <a:ext cx="3657600" cy="292608"/>
          </a:xfrm>
          <a:prstGeom prst="rect">
            <a:avLst/>
          </a:prstGeom>
          <a:noFill/>
        </p:spPr>
        <p:txBody>
          <a:bodyPr wrap="square" anchor="t">
            <a:spAutoFit/>
          </a:bodyPr>
          <a:lstStyle/>
          <a:p>
            <a:pPr algn="l">
              <a:spcAft>
                <a:spcPts val="400"/>
              </a:spcAft>
            </a:pPr>
            <a:r>
              <a:rPr sz="1200" b="1">
                <a:solidFill>
                  <a:srgbClr val="D97757"/>
                </a:solidFill>
                <a:latin typeface="Calibri"/>
              </a:rPr>
              <a:t>PROMPT</a:t>
            </a:r>
          </a:p>
        </p:txBody>
      </p:sp>
      <p:sp>
        <p:nvSpPr>
          <p:cNvPr id="6" name="TextBox 5"/>
          <p:cNvSpPr txBox="1"/>
          <p:nvPr/>
        </p:nvSpPr>
        <p:spPr>
          <a:xfrm>
            <a:off x="6995160" y="1645920"/>
            <a:ext cx="3657600" cy="292608"/>
          </a:xfrm>
          <a:prstGeom prst="rect">
            <a:avLst/>
          </a:prstGeom>
          <a:noFill/>
        </p:spPr>
        <p:txBody>
          <a:bodyPr wrap="square" anchor="t">
            <a:spAutoFit/>
          </a:bodyPr>
          <a:lstStyle/>
          <a:p>
            <a:pPr algn="l">
              <a:spcAft>
                <a:spcPts val="400"/>
              </a:spcAft>
            </a:pPr>
            <a:r>
              <a:rPr sz="1200" b="1">
                <a:solidFill>
                  <a:srgbClr val="3A7D7B"/>
                </a:solidFill>
                <a:latin typeface="Calibri"/>
              </a:rPr>
              <a:t>WHAT IT DOES</a:t>
            </a:r>
          </a:p>
        </p:txBody>
      </p:sp>
      <p:sp>
        <p:nvSpPr>
          <p:cNvPr id="7" name="Rounded Rectangle 6"/>
          <p:cNvSpPr/>
          <p:nvPr/>
        </p:nvSpPr>
        <p:spPr>
          <a:xfrm>
            <a:off x="777240" y="2011680"/>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Oval 7"/>
          <p:cNvSpPr/>
          <p:nvPr/>
        </p:nvSpPr>
        <p:spPr>
          <a:xfrm>
            <a:off x="960120" y="2221992"/>
            <a:ext cx="347472" cy="347472"/>
          </a:xfrm>
          <a:prstGeom prst="ellipse">
            <a:avLst/>
          </a:prstGeom>
          <a:solidFill>
            <a:srgbClr val="D97757"/>
          </a:solidFill>
          <a:ln>
            <a:noFill/>
          </a:ln>
          <a:effectLst/>
        </p:spPr>
        <p:txBody>
          <a:bodyPr rtlCol="0" anchor="ctr"/>
          <a:lstStyle/>
          <a:p>
            <a:pPr algn="ctr"/>
          </a:p>
        </p:txBody>
      </p:sp>
      <p:sp>
        <p:nvSpPr>
          <p:cNvPr id="9" name="TextBox 8"/>
          <p:cNvSpPr txBox="1"/>
          <p:nvPr/>
        </p:nvSpPr>
        <p:spPr>
          <a:xfrm>
            <a:off x="960120" y="2221992"/>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463040" y="2011680"/>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Optimise:  </a:t>
            </a:r>
            <a:r>
              <a:rPr sz="1200" b="0">
                <a:solidFill>
                  <a:srgbClr val="21201C"/>
                </a:solidFill>
                <a:latin typeface="Calibri"/>
              </a:rPr>
              <a:t>What is the highest total Weighted_Score possible if the budget is reduced by S$2,000?</a:t>
            </a:r>
          </a:p>
        </p:txBody>
      </p:sp>
      <p:sp>
        <p:nvSpPr>
          <p:cNvPr id="11" name="Rectangle 10"/>
          <p:cNvSpPr/>
          <p:nvPr/>
        </p:nvSpPr>
        <p:spPr>
          <a:xfrm>
            <a:off x="6766560" y="2121408"/>
            <a:ext cx="13716" cy="548640"/>
          </a:xfrm>
          <a:prstGeom prst="rect">
            <a:avLst/>
          </a:prstGeom>
          <a:solidFill>
            <a:srgbClr val="DCD8CF"/>
          </a:solidFill>
          <a:ln>
            <a:noFill/>
          </a:ln>
          <a:effectLst/>
        </p:spPr>
        <p:txBody>
          <a:bodyPr rtlCol="0" anchor="ctr"/>
          <a:lstStyle/>
          <a:p>
            <a:pPr algn="ctr"/>
          </a:p>
        </p:txBody>
      </p:sp>
      <p:sp>
        <p:nvSpPr>
          <p:cNvPr id="12" name="TextBox 11"/>
          <p:cNvSpPr txBox="1"/>
          <p:nvPr/>
        </p:nvSpPr>
        <p:spPr>
          <a:xfrm>
            <a:off x="6995160" y="2011680"/>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sensitivity test: re-run the optimisation with a tighter budget.</a:t>
            </a:r>
          </a:p>
        </p:txBody>
      </p:sp>
      <p:sp>
        <p:nvSpPr>
          <p:cNvPr id="13" name="Rounded Rectangle 12"/>
          <p:cNvSpPr/>
          <p:nvPr/>
        </p:nvSpPr>
        <p:spPr>
          <a:xfrm>
            <a:off x="777240" y="2871216"/>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Oval 13"/>
          <p:cNvSpPr/>
          <p:nvPr/>
        </p:nvSpPr>
        <p:spPr>
          <a:xfrm>
            <a:off x="960120" y="3081528"/>
            <a:ext cx="347472" cy="347472"/>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960120" y="3081528"/>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2</a:t>
            </a:r>
          </a:p>
        </p:txBody>
      </p:sp>
      <p:sp>
        <p:nvSpPr>
          <p:cNvPr id="16" name="TextBox 15"/>
          <p:cNvSpPr txBox="1"/>
          <p:nvPr/>
        </p:nvSpPr>
        <p:spPr>
          <a:xfrm>
            <a:off x="1463040" y="2871216"/>
            <a:ext cx="5166360" cy="768096"/>
          </a:xfrm>
          <a:prstGeom prst="rect">
            <a:avLst/>
          </a:prstGeom>
          <a:noFill/>
        </p:spPr>
        <p:txBody>
          <a:bodyPr wrap="square" anchor="ctr">
            <a:spAutoFit/>
          </a:bodyPr>
          <a:lstStyle/>
          <a:p>
            <a:pPr algn="l">
              <a:spcAft>
                <a:spcPts val="400"/>
              </a:spcAft>
            </a:pPr>
            <a:r>
              <a:rPr sz="1200" b="1">
                <a:solidFill>
                  <a:srgbClr val="3A7D7B"/>
                </a:solidFill>
                <a:latin typeface="Calibri"/>
              </a:rPr>
              <a:t>Optimise:  </a:t>
            </a:r>
            <a:r>
              <a:rPr sz="1200" b="0">
                <a:solidFill>
                  <a:srgbClr val="21201C"/>
                </a:solidFill>
                <a:latin typeface="Calibri"/>
              </a:rPr>
              <a:t>Schedule the eight final interviews across Monday and Tuesday so no interviewer has more than three in a row.</a:t>
            </a:r>
          </a:p>
        </p:txBody>
      </p:sp>
      <p:sp>
        <p:nvSpPr>
          <p:cNvPr id="17" name="Rectangle 16"/>
          <p:cNvSpPr/>
          <p:nvPr/>
        </p:nvSpPr>
        <p:spPr>
          <a:xfrm>
            <a:off x="6766560" y="2980944"/>
            <a:ext cx="13716" cy="548640"/>
          </a:xfrm>
          <a:prstGeom prst="rect">
            <a:avLst/>
          </a:prstGeom>
          <a:solidFill>
            <a:srgbClr val="DCD8CF"/>
          </a:solidFill>
          <a:ln>
            <a:noFill/>
          </a:ln>
          <a:effectLst/>
        </p:spPr>
        <p:txBody>
          <a:bodyPr rtlCol="0" anchor="ctr"/>
          <a:lstStyle/>
          <a:p>
            <a:pPr algn="ctr"/>
          </a:p>
        </p:txBody>
      </p:sp>
      <p:sp>
        <p:nvSpPr>
          <p:cNvPr id="18" name="TextBox 17"/>
          <p:cNvSpPr txBox="1"/>
          <p:nvPr/>
        </p:nvSpPr>
        <p:spPr>
          <a:xfrm>
            <a:off x="6995160" y="2871216"/>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scheduling problem - another kind of optimisation.</a:t>
            </a:r>
          </a:p>
        </p:txBody>
      </p:sp>
      <p:sp>
        <p:nvSpPr>
          <p:cNvPr id="19" name="Rounded Rectangle 18"/>
          <p:cNvSpPr/>
          <p:nvPr/>
        </p:nvSpPr>
        <p:spPr>
          <a:xfrm>
            <a:off x="777240" y="3730752"/>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Oval 19"/>
          <p:cNvSpPr/>
          <p:nvPr/>
        </p:nvSpPr>
        <p:spPr>
          <a:xfrm>
            <a:off x="960120" y="3941064"/>
            <a:ext cx="347472" cy="347472"/>
          </a:xfrm>
          <a:prstGeom prst="ellipse">
            <a:avLst/>
          </a:prstGeom>
          <a:solidFill>
            <a:srgbClr val="5B4B8A"/>
          </a:solidFill>
          <a:ln>
            <a:noFill/>
          </a:ln>
          <a:effectLst/>
        </p:spPr>
        <p:txBody>
          <a:bodyPr rtlCol="0" anchor="ctr"/>
          <a:lstStyle/>
          <a:p>
            <a:pPr algn="ctr"/>
          </a:p>
        </p:txBody>
      </p:sp>
      <p:sp>
        <p:nvSpPr>
          <p:cNvPr id="21" name="TextBox 20"/>
          <p:cNvSpPr txBox="1"/>
          <p:nvPr/>
        </p:nvSpPr>
        <p:spPr>
          <a:xfrm>
            <a:off x="960120" y="3941064"/>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3</a:t>
            </a:r>
          </a:p>
        </p:txBody>
      </p:sp>
      <p:sp>
        <p:nvSpPr>
          <p:cNvPr id="22" name="TextBox 21"/>
          <p:cNvSpPr txBox="1"/>
          <p:nvPr/>
        </p:nvSpPr>
        <p:spPr>
          <a:xfrm>
            <a:off x="1463040" y="3730752"/>
            <a:ext cx="5166360" cy="768096"/>
          </a:xfrm>
          <a:prstGeom prst="rect">
            <a:avLst/>
          </a:prstGeom>
          <a:noFill/>
        </p:spPr>
        <p:txBody>
          <a:bodyPr wrap="square" anchor="ctr">
            <a:spAutoFit/>
          </a:bodyPr>
          <a:lstStyle/>
          <a:p>
            <a:pPr algn="l">
              <a:spcAft>
                <a:spcPts val="400"/>
              </a:spcAft>
            </a:pPr>
            <a:r>
              <a:rPr sz="1200" b="1">
                <a:solidFill>
                  <a:srgbClr val="5B4B8A"/>
                </a:solidFill>
                <a:latin typeface="Calibri"/>
              </a:rPr>
              <a:t>Docs:  </a:t>
            </a:r>
            <a:r>
              <a:rPr sz="1200" b="0">
                <a:solidFill>
                  <a:srgbClr val="21201C"/>
                </a:solidFill>
                <a:latin typeface="Calibri"/>
              </a:rPr>
              <a:t>Turn the recommendation into a one-page memo with a table of hires and start dates.</a:t>
            </a:r>
          </a:p>
        </p:txBody>
      </p:sp>
      <p:sp>
        <p:nvSpPr>
          <p:cNvPr id="23" name="Rectangle 22"/>
          <p:cNvSpPr/>
          <p:nvPr/>
        </p:nvSpPr>
        <p:spPr>
          <a:xfrm>
            <a:off x="6766560" y="3840480"/>
            <a:ext cx="13716" cy="548640"/>
          </a:xfrm>
          <a:prstGeom prst="rect">
            <a:avLst/>
          </a:prstGeom>
          <a:solidFill>
            <a:srgbClr val="DCD8CF"/>
          </a:solidFill>
          <a:ln>
            <a:noFill/>
          </a:ln>
          <a:effectLst/>
        </p:spPr>
        <p:txBody>
          <a:bodyPr rtlCol="0" anchor="ctr"/>
          <a:lstStyle/>
          <a:p>
            <a:pPr algn="ctr"/>
          </a:p>
        </p:txBody>
      </p:sp>
      <p:sp>
        <p:nvSpPr>
          <p:cNvPr id="24" name="TextBox 23"/>
          <p:cNvSpPr txBox="1"/>
          <p:nvPr/>
        </p:nvSpPr>
        <p:spPr>
          <a:xfrm>
            <a:off x="6995160" y="3730752"/>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Reformats the recommendation for a client audience.</a:t>
            </a:r>
          </a:p>
        </p:txBody>
      </p:sp>
      <p:sp>
        <p:nvSpPr>
          <p:cNvPr id="25" name="Rounded Rectangle 24"/>
          <p:cNvSpPr/>
          <p:nvPr/>
        </p:nvSpPr>
        <p:spPr>
          <a:xfrm>
            <a:off x="777240" y="4590288"/>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Oval 25"/>
          <p:cNvSpPr/>
          <p:nvPr/>
        </p:nvSpPr>
        <p:spPr>
          <a:xfrm>
            <a:off x="960120" y="4800600"/>
            <a:ext cx="347472" cy="347472"/>
          </a:xfrm>
          <a:prstGeom prst="ellipse">
            <a:avLst/>
          </a:prstGeom>
          <a:solidFill>
            <a:srgbClr val="C2603F"/>
          </a:solidFill>
          <a:ln>
            <a:noFill/>
          </a:ln>
          <a:effectLst/>
        </p:spPr>
        <p:txBody>
          <a:bodyPr rtlCol="0" anchor="ctr"/>
          <a:lstStyle/>
          <a:p>
            <a:pPr algn="ctr"/>
          </a:p>
        </p:txBody>
      </p:sp>
      <p:sp>
        <p:nvSpPr>
          <p:cNvPr id="27" name="TextBox 26"/>
          <p:cNvSpPr txBox="1"/>
          <p:nvPr/>
        </p:nvSpPr>
        <p:spPr>
          <a:xfrm>
            <a:off x="960120" y="4800600"/>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4</a:t>
            </a:r>
          </a:p>
        </p:txBody>
      </p:sp>
      <p:sp>
        <p:nvSpPr>
          <p:cNvPr id="28" name="TextBox 27"/>
          <p:cNvSpPr txBox="1"/>
          <p:nvPr/>
        </p:nvSpPr>
        <p:spPr>
          <a:xfrm>
            <a:off x="1463040" y="4590288"/>
            <a:ext cx="5166360" cy="768096"/>
          </a:xfrm>
          <a:prstGeom prst="rect">
            <a:avLst/>
          </a:prstGeom>
          <a:noFill/>
        </p:spPr>
        <p:txBody>
          <a:bodyPr wrap="square" anchor="ctr">
            <a:spAutoFit/>
          </a:bodyPr>
          <a:lstStyle/>
          <a:p>
            <a:pPr algn="l">
              <a:spcAft>
                <a:spcPts val="400"/>
              </a:spcAft>
            </a:pPr>
            <a:r>
              <a:rPr sz="1200" b="1">
                <a:solidFill>
                  <a:srgbClr val="C2603F"/>
                </a:solidFill>
                <a:latin typeface="Calibri"/>
              </a:rPr>
              <a:t>Gmail:  </a:t>
            </a:r>
            <a:r>
              <a:rPr sz="1200" b="0">
                <a:solidFill>
                  <a:srgbClr val="21201C"/>
                </a:solidFill>
                <a:latin typeface="Calibri"/>
              </a:rPr>
              <a:t>Catch me up on the latest emails about the Q3 hiring drive.</a:t>
            </a:r>
          </a:p>
        </p:txBody>
      </p:sp>
      <p:sp>
        <p:nvSpPr>
          <p:cNvPr id="29" name="Rectangle 28"/>
          <p:cNvSpPr/>
          <p:nvPr/>
        </p:nvSpPr>
        <p:spPr>
          <a:xfrm>
            <a:off x="6766560" y="4700016"/>
            <a:ext cx="13716" cy="548640"/>
          </a:xfrm>
          <a:prstGeom prst="rect">
            <a:avLst/>
          </a:prstGeom>
          <a:solidFill>
            <a:srgbClr val="DCD8CF"/>
          </a:solidFill>
          <a:ln>
            <a:noFill/>
          </a:ln>
          <a:effectLst/>
        </p:spPr>
        <p:txBody>
          <a:bodyPr rtlCol="0" anchor="ctr"/>
          <a:lstStyle/>
          <a:p>
            <a:pPr algn="ctr"/>
          </a:p>
        </p:txBody>
      </p:sp>
      <p:sp>
        <p:nvSpPr>
          <p:cNvPr id="30" name="TextBox 29"/>
          <p:cNvSpPr txBox="1"/>
          <p:nvPr/>
        </p:nvSpPr>
        <p:spPr>
          <a:xfrm>
            <a:off x="6995160" y="4590288"/>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Gemini can reference your Gmail (if enabled) - check the Sources it lists.</a:t>
            </a:r>
          </a:p>
        </p:txBody>
      </p:sp>
      <p:sp>
        <p:nvSpPr>
          <p:cNvPr id="31" name="Rounded Rectangle 30"/>
          <p:cNvSpPr/>
          <p:nvPr/>
        </p:nvSpPr>
        <p:spPr>
          <a:xfrm>
            <a:off x="777240" y="5449824"/>
            <a:ext cx="10634472" cy="768096"/>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2" name="Oval 31"/>
          <p:cNvSpPr/>
          <p:nvPr/>
        </p:nvSpPr>
        <p:spPr>
          <a:xfrm>
            <a:off x="960120" y="5660136"/>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960120" y="5660136"/>
            <a:ext cx="347472" cy="347472"/>
          </a:xfrm>
          <a:prstGeom prst="rect">
            <a:avLst/>
          </a:prstGeom>
          <a:noFill/>
        </p:spPr>
        <p:txBody>
          <a:bodyPr wrap="square" anchor="ctr">
            <a:spAutoFit/>
          </a:bodyPr>
          <a:lstStyle/>
          <a:p>
            <a:pPr algn="ctr">
              <a:spcAft>
                <a:spcPts val="400"/>
              </a:spcAft>
            </a:pPr>
            <a:r>
              <a:rPr sz="1200" b="1">
                <a:solidFill>
                  <a:srgbClr val="FFFFFF"/>
                </a:solidFill>
                <a:latin typeface="Calibri"/>
              </a:rPr>
              <a:t>5</a:t>
            </a:r>
          </a:p>
        </p:txBody>
      </p:sp>
      <p:sp>
        <p:nvSpPr>
          <p:cNvPr id="34" name="TextBox 33"/>
          <p:cNvSpPr txBox="1"/>
          <p:nvPr/>
        </p:nvSpPr>
        <p:spPr>
          <a:xfrm>
            <a:off x="1463040" y="5449824"/>
            <a:ext cx="5166360" cy="768096"/>
          </a:xfrm>
          <a:prstGeom prst="rect">
            <a:avLst/>
          </a:prstGeom>
          <a:noFill/>
        </p:spPr>
        <p:txBody>
          <a:bodyPr wrap="square" anchor="ctr">
            <a:spAutoFit/>
          </a:bodyPr>
          <a:lstStyle/>
          <a:p>
            <a:pPr algn="l">
              <a:spcAft>
                <a:spcPts val="400"/>
              </a:spcAft>
            </a:pPr>
            <a:r>
              <a:rPr sz="1200" b="1">
                <a:solidFill>
                  <a:srgbClr val="D97757"/>
                </a:solidFill>
                <a:latin typeface="Calibri"/>
              </a:rPr>
              <a:t>Share:  </a:t>
            </a:r>
            <a:r>
              <a:rPr sz="1200" b="0">
                <a:solidFill>
                  <a:srgbClr val="21201C"/>
                </a:solidFill>
                <a:latin typeface="Calibri"/>
              </a:rPr>
              <a:t>Which tabs in this spreadsheet would be risky to share outside Orchid Bay, and why?</a:t>
            </a:r>
          </a:p>
        </p:txBody>
      </p:sp>
      <p:sp>
        <p:nvSpPr>
          <p:cNvPr id="35" name="Rectangle 34"/>
          <p:cNvSpPr/>
          <p:nvPr/>
        </p:nvSpPr>
        <p:spPr>
          <a:xfrm>
            <a:off x="6766560" y="5559552"/>
            <a:ext cx="13716" cy="548640"/>
          </a:xfrm>
          <a:prstGeom prst="rect">
            <a:avLst/>
          </a:prstGeom>
          <a:solidFill>
            <a:srgbClr val="DCD8CF"/>
          </a:solidFill>
          <a:ln>
            <a:noFill/>
          </a:ln>
          <a:effectLst/>
        </p:spPr>
        <p:txBody>
          <a:bodyPr rtlCol="0" anchor="ctr"/>
          <a:lstStyle/>
          <a:p>
            <a:pPr algn="ctr"/>
          </a:p>
        </p:txBody>
      </p:sp>
      <p:sp>
        <p:nvSpPr>
          <p:cNvPr id="36" name="TextBox 35"/>
          <p:cNvSpPr txBox="1"/>
          <p:nvPr/>
        </p:nvSpPr>
        <p:spPr>
          <a:xfrm>
            <a:off x="6995160" y="5449824"/>
            <a:ext cx="4279392" cy="768096"/>
          </a:xfrm>
          <a:prstGeom prst="rect">
            <a:avLst/>
          </a:prstGeom>
          <a:noFill/>
        </p:spPr>
        <p:txBody>
          <a:bodyPr wrap="square" anchor="ctr">
            <a:spAutoFit/>
          </a:bodyPr>
          <a:lstStyle/>
          <a:p>
            <a:pPr algn="l">
              <a:spcAft>
                <a:spcPts val="400"/>
              </a:spcAft>
            </a:pPr>
            <a:r>
              <a:rPr sz="1200" b="0">
                <a:solidFill>
                  <a:srgbClr val="6B6862"/>
                </a:solidFill>
                <a:latin typeface="Calibri"/>
              </a:rPr>
              <a:t>A data-sharing review before you click Share.</a:t>
            </a:r>
          </a:p>
        </p:txBody>
      </p:sp>
      <p:sp>
        <p:nvSpPr>
          <p:cNvPr id="37" name="TextBox 3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9" name="TextBox 3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12</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Optimum</a:t>
            </a:r>
          </a:p>
          <a:p>
            <a:pPr algn="l">
              <a:spcAft>
                <a:spcPts val="300"/>
              </a:spcAft>
            </a:pPr>
            <a:r>
              <a:rPr sz="1300" b="0">
                <a:solidFill>
                  <a:srgbClr val="6B6862"/>
                </a:solidFill>
                <a:latin typeface="Calibri"/>
              </a:rPr>
              <a:t>CAN-26567, CAN-26608, CAN-26621, CAN-26627, CAN-26683, CAN-26692, CAN-26699, CAN-26711.</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Totals</a:t>
            </a:r>
          </a:p>
          <a:p>
            <a:pPr algn="l">
              <a:spcAft>
                <a:spcPts val="300"/>
              </a:spcAft>
            </a:pPr>
            <a:r>
              <a:rPr sz="1300" b="0">
                <a:solidFill>
                  <a:srgbClr val="6B6862"/>
                </a:solidFill>
                <a:latin typeface="Calibri"/>
              </a:rPr>
              <a:t>Total score 673.5; total salary S$40,700 (budget S$41,900); Within budget = TRUE.</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Per role</a:t>
            </a:r>
          </a:p>
          <a:p>
            <a:pPr algn="l">
              <a:spcAft>
                <a:spcPts val="300"/>
              </a:spcAft>
            </a:pPr>
            <a:r>
              <a:rPr sz="1300" b="0">
                <a:solidFill>
                  <a:srgbClr val="6B6862"/>
                </a:solidFill>
                <a:latin typeface="Calibri"/>
              </a:rPr>
              <a:t>Two Selected per role; All hires = 8.</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No-budget comparison</a:t>
            </a:r>
          </a:p>
          <a:p>
            <a:pPr algn="l">
              <a:spcAft>
                <a:spcPts val="300"/>
              </a:spcAft>
            </a:pPr>
            <a:r>
              <a:rPr sz="1300" b="0">
                <a:solidFill>
                  <a:srgbClr val="6B6862"/>
                </a:solidFill>
                <a:latin typeface="Calibri"/>
              </a:rPr>
              <a:t>674.5 for S$43,100; swap CAN-26622 -&gt; CAN-26627.</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Share safely</a:t>
            </a:r>
          </a:p>
          <a:p>
            <a:pPr algn="l">
              <a:spcAft>
                <a:spcPts val="300"/>
              </a:spcAft>
            </a:pPr>
            <a:r>
              <a:rPr sz="1300" b="0">
                <a:solidFill>
                  <a:srgbClr val="6B6862"/>
                </a:solidFill>
                <a:latin typeface="Calibri"/>
              </a:rPr>
              <a:t>Recommendation exported to Docs; Share_View has 4 columns and 8 candidate rows (plus a header); only the copied Share_View file is shared, as Viewer.</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Interactive Dashboard</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KPI formulas: Dropdown selectors drive COUNTIFS and AVERAGEIFS KPIs and summary tables.</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Interactivity: Linked charts, a metric switch, KPI alerts and protection - tested on three views.</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Gems: A Candidate Screener Gem with instructions and knowledge files, used from the Sheets side panel.</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LO3 · Decide and share: Optimised hires within budget, proved with formulas, exported and shared minimally.</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WRAP-UP</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Course Summary &amp; Next Steps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Gemini for Google Sheet (C817)  ·  C817</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You Achieved</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Sheets Fundamentals</a:t>
            </a:r>
          </a:p>
          <a:p>
            <a:pPr algn="l">
              <a:spcAft>
                <a:spcPts val="300"/>
              </a:spcAft>
            </a:pPr>
            <a:r>
              <a:rPr sz="1300" b="0">
                <a:solidFill>
                  <a:srgbClr val="6B6862"/>
                </a:solidFill>
                <a:latin typeface="Calibri"/>
              </a:rPr>
              <a:t>Use Gemini in Google Sheets - the side panel, actions and formula help - to summarise, quality-check and prepare HR data, and to generate, explain and fix formulas such as VLOOKUP, COUNTIF and nested IF.</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Analytics &amp; Visualization</a:t>
            </a:r>
          </a:p>
          <a:p>
            <a:pPr algn="l">
              <a:spcAft>
                <a:spcPts val="300"/>
              </a:spcAft>
            </a:pPr>
            <a:r>
              <a:rPr sz="1300" b="0">
                <a:solidFill>
                  <a:srgbClr val="6B6862"/>
                </a:solidFill>
                <a:latin typeface="Calibri"/>
              </a:rPr>
              <a:t>Create colour-coded tables, trackers and dropdowns, extract and categorise text with the AI function, and generate data analysis, insights, pivot tables and charts with Gemini, verifying every result.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Interactive Dashboard</a:t>
            </a:r>
          </a:p>
          <a:p>
            <a:pPr algn="l">
              <a:spcAft>
                <a:spcPts val="300"/>
              </a:spcAft>
            </a:pPr>
            <a:r>
              <a:rPr sz="1300" b="0">
                <a:solidFill>
                  <a:srgbClr val="6B6862"/>
                </a:solidFill>
                <a:latin typeface="Calibri"/>
              </a:rPr>
              <a:t>Build an interactive hiring dashboard, automate repeat screening with a custom Gem, and use Gemini's optimisation solver, reporting and sharing features responsibly.</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NEXT STEPS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Keep the Verified Workflow</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Use Gemini on one real spreadsheet task this week - and check it with a formula.</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Turn one monthly report into an interactive dashboard driven by dropdowns.</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Create one Gem for a task you repeat, with fair, evidence-only instructions.</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Keep people decisions with accountable people: Gemini drafts, formulas prove, people decide.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WRAP-UP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Keep Practising After the Course</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Re-run the labs on your own machine — repetition is what makes the skills stick.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Apply the techniques to a real process or project in your own organisation.</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Keep your downloaded C817 course files and use the lab checkpoints to restart safely.</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Explore the follow-on courses at www.tertiarycourses.com.sg.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Gemini for Google Sheet (C817)  ·  C817</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914400" y="1828800"/>
            <a:ext cx="8412480" cy="457200"/>
          </a:xfrm>
          <a:prstGeom prst="rect">
            <a:avLst/>
          </a:prstGeom>
          <a:noFill/>
        </p:spPr>
        <p:txBody>
          <a:bodyPr wrap="square" anchor="t">
            <a:spAutoFit/>
          </a:bodyPr>
          <a:lstStyle/>
          <a:p>
            <a:pPr algn="l">
              <a:spcAft>
                <a:spcPts val="400"/>
              </a:spcAft>
            </a:pPr>
            <a:r>
              <a:rPr sz="1400" b="1">
                <a:solidFill>
                  <a:srgbClr val="D97757"/>
                </a:solidFill>
                <a:latin typeface="Calibri"/>
              </a:rPr>
              <a:t>GEMINI FOR GOOGLE SHEET · C817</a:t>
            </a:r>
          </a:p>
        </p:txBody>
      </p:sp>
      <p:sp>
        <p:nvSpPr>
          <p:cNvPr id="6" name="TextBox 5"/>
          <p:cNvSpPr txBox="1"/>
          <p:nvPr/>
        </p:nvSpPr>
        <p:spPr>
          <a:xfrm>
            <a:off x="868680" y="2331720"/>
            <a:ext cx="8503920" cy="2103120"/>
          </a:xfrm>
          <a:prstGeom prst="rect">
            <a:avLst/>
          </a:prstGeom>
          <a:noFill/>
        </p:spPr>
        <p:txBody>
          <a:bodyPr wrap="square" anchor="t">
            <a:spAutoFit/>
          </a:bodyPr>
          <a:lstStyle/>
          <a:p>
            <a:pPr algn="l">
              <a:spcAft>
                <a:spcPts val="400"/>
              </a:spcAft>
            </a:pPr>
            <a:r>
              <a:rPr sz="4000" b="1">
                <a:solidFill>
                  <a:srgbClr val="FFFFFF"/>
                </a:solidFill>
                <a:latin typeface="Cambria"/>
              </a:rPr>
              <a:t>Thank You!</a:t>
            </a:r>
          </a:p>
        </p:txBody>
      </p:sp>
      <p:sp>
        <p:nvSpPr>
          <p:cNvPr id="7" name="TextBox 6"/>
          <p:cNvSpPr txBox="1"/>
          <p:nvPr/>
        </p:nvSpPr>
        <p:spPr>
          <a:xfrm>
            <a:off x="914400" y="4526280"/>
            <a:ext cx="8412480" cy="1280160"/>
          </a:xfrm>
          <a:prstGeom prst="rect">
            <a:avLst/>
          </a:prstGeom>
          <a:noFill/>
        </p:spPr>
        <p:txBody>
          <a:bodyPr wrap="square" anchor="t">
            <a:spAutoFit/>
          </a:bodyPr>
          <a:lstStyle/>
          <a:p>
            <a:pPr algn="l">
              <a:spcAft>
                <a:spcPts val="400"/>
              </a:spcAft>
            </a:pPr>
            <a:r>
              <a:rPr sz="1800" b="0">
                <a:solidFill>
                  <a:srgbClr val="B9B4A9"/>
                </a:solidFill>
                <a:latin typeface="Calibri"/>
              </a:rPr>
              <a:t>You can now use Gemini in Google Sheets to clean, analyse and visualise data, build interactive dashboards and reusable Gems - while keeping evidence, privacy and human judgement in control.</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Gemini for Google Sheet (C817)  ·  C817</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114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Gemini for Google Sheet (C817)</dc:title>
  <dc:subject>Slide deck v2.0</dc:subject>
  <dc:creator>Tertiary Infotech Academy Pte Ltd</dc:creator>
  <cp:keywords>C817</cp:keywords>
  <dc:description/>
  <cp:lastModifiedBy>Tertiary Infotech Academy Pte Ltd</cp:lastModifiedBy>
  <cp:revision>1</cp:revision>
  <dcterms:created xsi:type="dcterms:W3CDTF">2026-10-19T22:19:37Z</dcterms:created>
  <dcterms:modified xsi:type="dcterms:W3CDTF">2026-10-19T22:19:37Z</dcterms:modified>
  <cp:category/>
</cp:coreProperties>
</file>